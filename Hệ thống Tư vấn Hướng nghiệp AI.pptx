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68" r:id="rId5"/>
    <p:sldId id="259" r:id="rId6"/>
    <p:sldId id="260" r:id="rId7"/>
    <p:sldId id="261" r:id="rId8"/>
    <p:sldId id="262" r:id="rId9"/>
    <p:sldId id="263" r:id="rId10"/>
    <p:sldId id="269" r:id="rId11"/>
    <p:sldId id="270" r:id="rId12"/>
    <p:sldId id="271" r:id="rId13"/>
    <p:sldId id="272" r:id="rId14"/>
    <p:sldId id="273" r:id="rId15"/>
    <p:sldId id="266" r:id="rId16"/>
    <p:sldId id="265" r:id="rId17"/>
    <p:sldId id="267" r:id="rId18"/>
  </p:sldIdLst>
  <p:sldSz cx="12192000" cy="6858000"/>
  <p:notesSz cx="6858000" cy="9144000"/>
  <p:embeddedFontLst>
    <p:embeddedFont>
      <p:font typeface="Calibri" panose="020F0502020204030204" pitchFamily="34" charset="0"/>
      <p:regular r:id="rId20"/>
      <p:bold r:id="rId21"/>
      <p:italic r:id="rId22"/>
      <p:boldItalic r:id="rId23"/>
    </p:embeddedFont>
    <p:embeddedFont>
      <p:font typeface="Inter" panose="020B0604020202020204" charset="0"/>
      <p:regular r:id="rId24"/>
      <p:bold r:id="rId25"/>
      <p:italic r:id="rId26"/>
      <p:boldItalic r:id="rId27"/>
    </p:embeddedFont>
    <p:embeddedFont>
      <p:font typeface="Inter SemiBold" panose="020B0604020202020204" charset="0"/>
      <p:regular r:id="rId28"/>
      <p:bold r:id="rId29"/>
      <p:italic r:id="rId30"/>
      <p:boldItalic r:id="rId31"/>
    </p:embeddedFont>
    <p:embeddedFont>
      <p:font typeface="Urbanist" panose="020B060402020202020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7F0C40-E537-4A80-A629-6686285E020A}">
  <a:tblStyle styleId="{627F0C40-E537-4A80-A629-6686285E020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6" d="100"/>
          <a:sy n="156" d="100"/>
        </p:scale>
        <p:origin x="444" y="8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ableStyles" Target="tableStyles.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5991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7.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6334125" y="1047601"/>
            <a:ext cx="5286375" cy="4762500"/>
          </a:xfrm>
          <a:prstGeom prst="rect">
            <a:avLst/>
          </a:prstGeom>
          <a:noFill/>
          <a:ln>
            <a:noFill/>
          </a:ln>
        </p:spPr>
      </p:pic>
      <p:sp>
        <p:nvSpPr>
          <p:cNvPr id="87" name="Google Shape;87;p13"/>
          <p:cNvSpPr txBox="1"/>
          <p:nvPr/>
        </p:nvSpPr>
        <p:spPr>
          <a:xfrm>
            <a:off x="571500" y="1343025"/>
            <a:ext cx="5550693" cy="2514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6000" b="1" i="0" u="none" strike="noStrike" cap="none">
                <a:solidFill>
                  <a:srgbClr val="FFFFFF"/>
                </a:solidFill>
                <a:latin typeface="Urbanist"/>
                <a:ea typeface="Urbanist"/>
                <a:cs typeface="Urbanist"/>
                <a:sym typeface="Urbanist"/>
              </a:rPr>
              <a:t>AI-POWERED</a:t>
            </a:r>
            <a:br>
              <a:rPr lang="en-US" sz="1800" b="0" i="0" u="none" strike="noStrike" cap="none">
                <a:solidFill>
                  <a:schemeClr val="dk1"/>
                </a:solidFill>
                <a:latin typeface="Calibri"/>
                <a:ea typeface="Calibri"/>
                <a:cs typeface="Calibri"/>
                <a:sym typeface="Calibri"/>
              </a:rPr>
            </a:br>
            <a:r>
              <a:rPr lang="en-US" sz="6000" b="1" i="0" u="none" strike="noStrike" cap="none">
                <a:solidFill>
                  <a:srgbClr val="FFFFFF"/>
                </a:solidFill>
                <a:latin typeface="Urbanist"/>
                <a:ea typeface="Urbanist"/>
                <a:cs typeface="Urbanist"/>
                <a:sym typeface="Urbanist"/>
              </a:rPr>
              <a:t> CAREER</a:t>
            </a:r>
            <a:br>
              <a:rPr lang="en-US" sz="1800" b="0" i="0" u="none" strike="noStrike" cap="none">
                <a:solidFill>
                  <a:schemeClr val="dk1"/>
                </a:solidFill>
                <a:latin typeface="Calibri"/>
                <a:ea typeface="Calibri"/>
                <a:cs typeface="Calibri"/>
                <a:sym typeface="Calibri"/>
              </a:rPr>
            </a:br>
            <a:r>
              <a:rPr lang="en-US" sz="6000" b="1" i="0" u="none" strike="noStrike" cap="none">
                <a:solidFill>
                  <a:srgbClr val="06B6D4"/>
                </a:solidFill>
                <a:latin typeface="Urbanist"/>
                <a:ea typeface="Urbanist"/>
                <a:cs typeface="Urbanist"/>
                <a:sym typeface="Urbanist"/>
              </a:rPr>
              <a:t>GUIDANCE</a:t>
            </a:r>
            <a:endParaRPr/>
          </a:p>
        </p:txBody>
      </p:sp>
      <p:sp>
        <p:nvSpPr>
          <p:cNvPr id="88" name="Google Shape;88;p13"/>
          <p:cNvSpPr txBox="1"/>
          <p:nvPr/>
        </p:nvSpPr>
        <p:spPr>
          <a:xfrm>
            <a:off x="571500" y="4143375"/>
            <a:ext cx="5286375" cy="443198"/>
          </a:xfrm>
          <a:prstGeom prst="rect">
            <a:avLst/>
          </a:prstGeom>
          <a:noFill/>
          <a:ln>
            <a:noFill/>
          </a:ln>
        </p:spPr>
        <p:txBody>
          <a:bodyPr spcFirstLastPara="1" wrap="square" lIns="0" tIns="0" rIns="0" bIns="0" anchor="t" anchorCtr="0">
            <a:spAutoFit/>
          </a:bodyPr>
          <a:lstStyle/>
          <a:p>
            <a:pPr lvl="0">
              <a:lnSpc>
                <a:spcPct val="159944"/>
              </a:lnSpc>
            </a:pPr>
            <a:r>
              <a:rPr lang="vi-VN" sz="1800">
                <a:solidFill>
                  <a:srgbClr val="94A3B8"/>
                </a:solidFill>
                <a:latin typeface="Inter"/>
                <a:ea typeface="Inter"/>
                <a:cs typeface="Inter"/>
                <a:sym typeface="Inter"/>
              </a:rPr>
              <a:t>AI tư vấn nghề nghiệp cho học sinh, sinh viên</a:t>
            </a:r>
            <a:endParaRPr/>
          </a:p>
        </p:txBody>
      </p:sp>
      <p:pic>
        <p:nvPicPr>
          <p:cNvPr id="89" name="Google Shape;89;p13" descr="image.png"/>
          <p:cNvPicPr preferRelativeResize="0"/>
          <p:nvPr/>
        </p:nvPicPr>
        <p:blipFill rotWithShape="1">
          <a:blip r:embed="rId5">
            <a:alphaModFix/>
          </a:blip>
          <a:srcRect/>
          <a:stretch/>
        </p:blipFill>
        <p:spPr>
          <a:xfrm>
            <a:off x="6343650" y="1057126"/>
            <a:ext cx="5267325" cy="4743450"/>
          </a:xfrm>
          <a:prstGeom prst="rect">
            <a:avLst/>
          </a:prstGeom>
          <a:noFill/>
          <a:ln>
            <a:noFill/>
          </a:ln>
        </p:spPr>
      </p:pic>
      <p:sp>
        <p:nvSpPr>
          <p:cNvPr id="90" name="Google Shape;90;p13"/>
          <p:cNvSpPr txBox="1"/>
          <p:nvPr/>
        </p:nvSpPr>
        <p:spPr>
          <a:xfrm>
            <a:off x="781050" y="5271045"/>
            <a:ext cx="48863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Nguyễn Văn Đỉnh</a:t>
            </a:r>
            <a:endParaRPr/>
          </a:p>
        </p:txBody>
      </p:sp>
      <p:sp>
        <p:nvSpPr>
          <p:cNvPr id="91" name="Google Shape;91;p13"/>
          <p:cNvSpPr txBox="1"/>
          <p:nvPr/>
        </p:nvSpPr>
        <p:spPr>
          <a:xfrm>
            <a:off x="781050" y="5575845"/>
            <a:ext cx="48863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MSSV: 26410020</a:t>
            </a:r>
            <a:endParaRPr/>
          </a:p>
        </p:txBody>
      </p:sp>
      <p:sp>
        <p:nvSpPr>
          <p:cNvPr id="11" name="Google Shape;91;p13">
            <a:extLst>
              <a:ext uri="{FF2B5EF4-FFF2-40B4-BE49-F238E27FC236}">
                <a16:creationId xmlns:a16="http://schemas.microsoft.com/office/drawing/2014/main" id="{EADCFF5D-5F8E-46C3-A8D1-1029FB34FAE9}"/>
              </a:ext>
            </a:extLst>
          </p:cNvPr>
          <p:cNvSpPr txBox="1"/>
          <p:nvPr/>
        </p:nvSpPr>
        <p:spPr>
          <a:xfrm>
            <a:off x="771524" y="5851252"/>
            <a:ext cx="4886325"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DT11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5"/>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7" name="Google Shape;97;p14" descr="image.png"/>
          <p:cNvPicPr preferRelativeResize="0"/>
          <p:nvPr/>
        </p:nvPicPr>
        <p:blipFill rotWithShape="1">
          <a:blip r:embed="rId4">
            <a:alphaModFix/>
          </a:blip>
          <a:srcRect/>
          <a:stretch/>
        </p:blipFill>
        <p:spPr>
          <a:xfrm>
            <a:off x="6334125" y="1614487"/>
            <a:ext cx="5286375" cy="4514850"/>
          </a:xfrm>
          <a:prstGeom prst="rect">
            <a:avLst/>
          </a:prstGeom>
          <a:noFill/>
          <a:ln>
            <a:noFill/>
          </a:ln>
        </p:spPr>
      </p:pic>
      <p:sp>
        <p:nvSpPr>
          <p:cNvPr id="98" name="Google Shape;98;p14"/>
          <p:cNvSpPr txBox="1"/>
          <p:nvPr/>
        </p:nvSpPr>
        <p:spPr>
          <a:xfrm>
            <a:off x="545307" y="1170894"/>
            <a:ext cx="555069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FFFFF"/>
                </a:solidFill>
                <a:latin typeface="Urbanist"/>
                <a:ea typeface="Urbanist"/>
                <a:cs typeface="Urbanist"/>
                <a:sym typeface="Urbanist"/>
              </a:rPr>
              <a:t>Thách thức trong Hướng nghiệp</a:t>
            </a:r>
            <a:endParaRPr/>
          </a:p>
        </p:txBody>
      </p:sp>
      <p:sp>
        <p:nvSpPr>
          <p:cNvPr id="99" name="Google Shape;99;p14"/>
          <p:cNvSpPr txBox="1"/>
          <p:nvPr/>
        </p:nvSpPr>
        <p:spPr>
          <a:xfrm>
            <a:off x="571500" y="1443835"/>
            <a:ext cx="5286375" cy="1895904"/>
          </a:xfrm>
          <a:prstGeom prst="rect">
            <a:avLst/>
          </a:prstGeom>
          <a:noFill/>
          <a:ln>
            <a:noFill/>
          </a:ln>
        </p:spPr>
        <p:txBody>
          <a:bodyPr spcFirstLastPara="1" wrap="square" lIns="0" tIns="0" rIns="0" bIns="0" anchor="t" anchorCtr="0">
            <a:spAutoFit/>
          </a:bodyPr>
          <a:lstStyle/>
          <a:p>
            <a:pPr lvl="0">
              <a:lnSpc>
                <a:spcPct val="160000"/>
              </a:lnSpc>
            </a:pPr>
            <a:r>
              <a:rPr lang="en-US" sz="1100">
                <a:solidFill>
                  <a:srgbClr val="94A3B8"/>
                </a:solidFill>
                <a:latin typeface="Inter"/>
                <a:ea typeface="Inter"/>
                <a:cs typeface="Inter"/>
                <a:sym typeface="Inter"/>
              </a:rPr>
              <a:t>Tình trạng chọn sai ngành, học sai ngành tại Việt Nam hiện nay không còn là chuyện hiếm gặp mà đã trở thành một thực trạng đáng báo động.</a:t>
            </a:r>
            <a:br>
              <a:rPr lang="en-US" sz="1100">
                <a:solidFill>
                  <a:srgbClr val="94A3B8"/>
                </a:solidFill>
                <a:latin typeface="Inter"/>
                <a:ea typeface="Inter"/>
                <a:cs typeface="Inter"/>
                <a:sym typeface="Inter"/>
              </a:rPr>
            </a:br>
            <a:r>
              <a:rPr lang="vi-VN" sz="1100">
                <a:solidFill>
                  <a:srgbClr val="94A3B8"/>
                </a:solidFill>
                <a:latin typeface="Inter"/>
                <a:ea typeface="Inter"/>
                <a:cs typeface="Inter"/>
                <a:sym typeface="Inter"/>
              </a:rPr>
              <a:t>Khảo sát tại các sự kiện hướng nghiệp lớn</a:t>
            </a:r>
            <a:r>
              <a:rPr lang="en-US" sz="1100">
                <a:solidFill>
                  <a:srgbClr val="94A3B8"/>
                </a:solidFill>
                <a:latin typeface="Inter"/>
                <a:ea typeface="Inter"/>
                <a:cs typeface="Inter"/>
                <a:sym typeface="Inter"/>
              </a:rPr>
              <a:t> </a:t>
            </a:r>
            <a:r>
              <a:rPr lang="vi-VN" sz="1100">
                <a:solidFill>
                  <a:srgbClr val="94A3B8"/>
                </a:solidFill>
                <a:latin typeface="Inter"/>
                <a:ea typeface="Inter"/>
                <a:cs typeface="Inter"/>
                <a:sym typeface="Inter"/>
              </a:rPr>
              <a:t>cứ 2 sinh viên đại học thì có 1 người cảm thấy lựa chọn ban đầu của mình chưa phù hợp</a:t>
            </a:r>
            <a:endParaRPr lang="en-US" sz="1100">
              <a:solidFill>
                <a:srgbClr val="94A3B8"/>
              </a:solidFill>
              <a:latin typeface="Inter"/>
              <a:ea typeface="Inter"/>
              <a:cs typeface="Inter"/>
              <a:sym typeface="Inter"/>
            </a:endParaRPr>
          </a:p>
          <a:p>
            <a:pPr lvl="0">
              <a:lnSpc>
                <a:spcPct val="160000"/>
              </a:lnSpc>
            </a:pPr>
            <a:r>
              <a:rPr lang="vi-VN" sz="1100">
                <a:solidFill>
                  <a:srgbClr val="94A3B8"/>
                </a:solidFill>
                <a:latin typeface="Inter"/>
                <a:ea typeface="Inter"/>
                <a:cs typeface="Inter"/>
                <a:sym typeface="Inter"/>
              </a:rPr>
              <a:t>Theo dữ liệu từ Bộ GD-ĐT, mỗi năm có khoảng 20% thí sinh dù đã trúng tuyển nhưng quyết định không nhập học</a:t>
            </a:r>
            <a:br>
              <a:rPr lang="en-US" sz="1100">
                <a:solidFill>
                  <a:srgbClr val="94A3B8"/>
                </a:solidFill>
                <a:latin typeface="Inter"/>
                <a:ea typeface="Inter"/>
                <a:cs typeface="Inter"/>
                <a:sym typeface="Inter"/>
              </a:rPr>
            </a:br>
            <a:endParaRPr sz="1100"/>
          </a:p>
        </p:txBody>
      </p:sp>
      <p:pic>
        <p:nvPicPr>
          <p:cNvPr id="100" name="Google Shape;100;p14" descr="image.png"/>
          <p:cNvPicPr preferRelativeResize="0"/>
          <p:nvPr/>
        </p:nvPicPr>
        <p:blipFill rotWithShape="1">
          <a:blip r:embed="rId5">
            <a:alphaModFix/>
          </a:blip>
          <a:srcRect/>
          <a:stretch/>
        </p:blipFill>
        <p:spPr>
          <a:xfrm>
            <a:off x="6343650" y="1624012"/>
            <a:ext cx="5267325" cy="4495800"/>
          </a:xfrm>
          <a:prstGeom prst="rect">
            <a:avLst/>
          </a:prstGeom>
          <a:noFill/>
          <a:ln>
            <a:noFill/>
          </a:ln>
        </p:spPr>
      </p:pic>
      <p:sp>
        <p:nvSpPr>
          <p:cNvPr id="101" name="Google Shape;101;p14"/>
          <p:cNvSpPr txBox="1"/>
          <p:nvPr/>
        </p:nvSpPr>
        <p:spPr>
          <a:xfrm>
            <a:off x="973932" y="3215100"/>
            <a:ext cx="4857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Thiếu thông tin:</a:t>
            </a:r>
            <a:r>
              <a:rPr lang="en-US" sz="1500" b="0" i="0" u="none" strike="noStrike" cap="none">
                <a:solidFill>
                  <a:srgbClr val="94A3B8"/>
                </a:solidFill>
                <a:latin typeface="Inter"/>
                <a:ea typeface="Inter"/>
                <a:cs typeface="Inter"/>
                <a:sym typeface="Inter"/>
              </a:rPr>
              <a:t> Dữ liệu nghề nghiệp phân tán, không có chiều sâu.</a:t>
            </a:r>
            <a:endParaRPr/>
          </a:p>
        </p:txBody>
      </p:sp>
      <p:sp>
        <p:nvSpPr>
          <p:cNvPr id="102" name="Google Shape;102;p14"/>
          <p:cNvSpPr txBox="1"/>
          <p:nvPr/>
        </p:nvSpPr>
        <p:spPr>
          <a:xfrm>
            <a:off x="973932" y="4023498"/>
            <a:ext cx="4857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Kém cá nhân hóa:</a:t>
            </a:r>
            <a:r>
              <a:rPr lang="en-US" sz="1500" b="0" i="0" u="none" strike="noStrike" cap="none">
                <a:solidFill>
                  <a:srgbClr val="94A3B8"/>
                </a:solidFill>
                <a:latin typeface="Inter"/>
                <a:ea typeface="Inter"/>
                <a:cs typeface="Inter"/>
                <a:sym typeface="Inter"/>
              </a:rPr>
              <a:t> Các giải pháp hiện tại mang tính đại trà, không xét đến sở thích cá nhân.</a:t>
            </a:r>
            <a:endParaRPr/>
          </a:p>
        </p:txBody>
      </p:sp>
      <p:sp>
        <p:nvSpPr>
          <p:cNvPr id="103" name="Google Shape;103;p14"/>
          <p:cNvSpPr txBox="1"/>
          <p:nvPr/>
        </p:nvSpPr>
        <p:spPr>
          <a:xfrm>
            <a:off x="1000125" y="4831896"/>
            <a:ext cx="4857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Rào cản tiếp cận:</a:t>
            </a:r>
            <a:r>
              <a:rPr lang="en-US" sz="1500" b="0" i="0" u="none" strike="noStrike" cap="none">
                <a:solidFill>
                  <a:srgbClr val="94A3B8"/>
                </a:solidFill>
                <a:latin typeface="Inter"/>
                <a:ea typeface="Inter"/>
                <a:cs typeface="Inter"/>
                <a:sym typeface="Inter"/>
              </a:rPr>
              <a:t> Khó tìm kiếm tư vấn viên chuyên nghiệp mọi lúc mọi nơi.</a:t>
            </a:r>
            <a:endParaRPr/>
          </a:p>
        </p:txBody>
      </p:sp>
      <p:sp>
        <p:nvSpPr>
          <p:cNvPr id="104" name="Google Shape;104;p14"/>
          <p:cNvSpPr txBox="1"/>
          <p:nvPr/>
        </p:nvSpPr>
        <p:spPr>
          <a:xfrm>
            <a:off x="1000125" y="5649006"/>
            <a:ext cx="4857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Nhu cầu:</a:t>
            </a:r>
            <a:r>
              <a:rPr lang="en-US" sz="1500" b="0" i="0" u="none" strike="noStrike" cap="none">
                <a:solidFill>
                  <a:srgbClr val="94A3B8"/>
                </a:solidFill>
                <a:latin typeface="Inter"/>
                <a:ea typeface="Inter"/>
                <a:cs typeface="Inter"/>
                <a:sym typeface="Inter"/>
              </a:rPr>
              <a:t> Một giải pháp AI tư vấn 24/7 dựa trên dữ liệu thực tế.</a:t>
            </a:r>
            <a:endParaRPr/>
          </a:p>
        </p:txBody>
      </p:sp>
      <p:pic>
        <p:nvPicPr>
          <p:cNvPr id="105" name="Google Shape;105;p14" descr="image.png"/>
          <p:cNvPicPr preferRelativeResize="0"/>
          <p:nvPr/>
        </p:nvPicPr>
        <p:blipFill rotWithShape="1">
          <a:blip r:embed="rId6">
            <a:alphaModFix/>
          </a:blip>
          <a:srcRect/>
          <a:stretch/>
        </p:blipFill>
        <p:spPr>
          <a:xfrm>
            <a:off x="571500" y="3305175"/>
            <a:ext cx="228600" cy="247650"/>
          </a:xfrm>
          <a:prstGeom prst="rect">
            <a:avLst/>
          </a:prstGeom>
          <a:noFill/>
          <a:ln>
            <a:noFill/>
          </a:ln>
        </p:spPr>
      </p:pic>
      <p:pic>
        <p:nvPicPr>
          <p:cNvPr id="106" name="Google Shape;106;p14" descr="image.png"/>
          <p:cNvPicPr preferRelativeResize="0"/>
          <p:nvPr/>
        </p:nvPicPr>
        <p:blipFill rotWithShape="1">
          <a:blip r:embed="rId7">
            <a:alphaModFix/>
          </a:blip>
          <a:srcRect/>
          <a:stretch/>
        </p:blipFill>
        <p:spPr>
          <a:xfrm>
            <a:off x="545307" y="4061598"/>
            <a:ext cx="285750" cy="247650"/>
          </a:xfrm>
          <a:prstGeom prst="rect">
            <a:avLst/>
          </a:prstGeom>
          <a:noFill/>
          <a:ln>
            <a:noFill/>
          </a:ln>
        </p:spPr>
      </p:pic>
      <p:pic>
        <p:nvPicPr>
          <p:cNvPr id="107" name="Google Shape;107;p14" descr="image.png"/>
          <p:cNvPicPr preferRelativeResize="0"/>
          <p:nvPr/>
        </p:nvPicPr>
        <p:blipFill rotWithShape="1">
          <a:blip r:embed="rId8">
            <a:alphaModFix/>
          </a:blip>
          <a:srcRect/>
          <a:stretch/>
        </p:blipFill>
        <p:spPr>
          <a:xfrm>
            <a:off x="571500" y="4869996"/>
            <a:ext cx="228600" cy="247650"/>
          </a:xfrm>
          <a:prstGeom prst="rect">
            <a:avLst/>
          </a:prstGeom>
          <a:noFill/>
          <a:ln>
            <a:noFill/>
          </a:ln>
        </p:spPr>
      </p:pic>
      <p:pic>
        <p:nvPicPr>
          <p:cNvPr id="108" name="Google Shape;108;p14" descr="image.png"/>
          <p:cNvPicPr preferRelativeResize="0"/>
          <p:nvPr/>
        </p:nvPicPr>
        <p:blipFill rotWithShape="1">
          <a:blip r:embed="rId9">
            <a:alphaModFix/>
          </a:blip>
          <a:srcRect/>
          <a:stretch/>
        </p:blipFill>
        <p:spPr>
          <a:xfrm>
            <a:off x="571500" y="5687106"/>
            <a:ext cx="171450" cy="247650"/>
          </a:xfrm>
          <a:prstGeom prst="rect">
            <a:avLst/>
          </a:prstGeom>
          <a:noFill/>
          <a:ln>
            <a:noFill/>
          </a:ln>
        </p:spPr>
      </p:pic>
      <p:sp>
        <p:nvSpPr>
          <p:cNvPr id="109" name="Google Shape;109;p14"/>
          <p:cNvSpPr txBox="1"/>
          <p:nvPr/>
        </p:nvSpPr>
        <p:spPr>
          <a:xfrm>
            <a:off x="809625" y="571500"/>
            <a:ext cx="11351418"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FFFFF"/>
                </a:solidFill>
                <a:latin typeface="Urbanist"/>
                <a:ea typeface="Urbanist"/>
                <a:cs typeface="Urbanist"/>
                <a:sym typeface="Urbanist"/>
              </a:rPr>
              <a:t>Bối cảnh &amp; Bài toán Thực tế</a:t>
            </a:r>
            <a:endParaRPr/>
          </a:p>
        </p:txBody>
      </p:sp>
      <p:sp>
        <p:nvSpPr>
          <p:cNvPr id="110" name="Google Shape;110;p14"/>
          <p:cNvSpPr/>
          <p:nvPr/>
        </p:nvSpPr>
        <p:spPr>
          <a:xfrm>
            <a:off x="571500" y="571500"/>
            <a:ext cx="57150"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4"/>
        <p:cNvGrpSpPr/>
        <p:nvPr/>
      </p:nvGrpSpPr>
      <p:grpSpPr>
        <a:xfrm>
          <a:off x="0" y="0"/>
          <a:ext cx="0" cy="0"/>
          <a:chOff x="0" y="0"/>
          <a:chExt cx="0" cy="0"/>
        </a:xfrm>
      </p:grpSpPr>
      <p:pic>
        <p:nvPicPr>
          <p:cNvPr id="115" name="Google Shape;11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6" name="Google Shape;116;p15" descr="image.png"/>
          <p:cNvPicPr preferRelativeResize="0"/>
          <p:nvPr/>
        </p:nvPicPr>
        <p:blipFill rotWithShape="1">
          <a:blip r:embed="rId4">
            <a:alphaModFix/>
          </a:blip>
          <a:srcRect/>
          <a:stretch/>
        </p:blipFill>
        <p:spPr>
          <a:xfrm>
            <a:off x="571500" y="2333625"/>
            <a:ext cx="3492400" cy="3076575"/>
          </a:xfrm>
          <a:prstGeom prst="rect">
            <a:avLst/>
          </a:prstGeom>
          <a:noFill/>
          <a:ln>
            <a:noFill/>
          </a:ln>
        </p:spPr>
      </p:pic>
      <p:pic>
        <p:nvPicPr>
          <p:cNvPr id="117" name="Google Shape;117;p15" descr="image.png"/>
          <p:cNvPicPr preferRelativeResize="0"/>
          <p:nvPr/>
        </p:nvPicPr>
        <p:blipFill rotWithShape="1">
          <a:blip r:embed="rId5">
            <a:alphaModFix/>
          </a:blip>
          <a:srcRect/>
          <a:stretch/>
        </p:blipFill>
        <p:spPr>
          <a:xfrm>
            <a:off x="4349650" y="2333625"/>
            <a:ext cx="3492549" cy="3076575"/>
          </a:xfrm>
          <a:prstGeom prst="rect">
            <a:avLst/>
          </a:prstGeom>
          <a:noFill/>
          <a:ln>
            <a:noFill/>
          </a:ln>
        </p:spPr>
      </p:pic>
      <p:pic>
        <p:nvPicPr>
          <p:cNvPr id="118" name="Google Shape;118;p15" descr="image.png"/>
          <p:cNvPicPr preferRelativeResize="0"/>
          <p:nvPr/>
        </p:nvPicPr>
        <p:blipFill rotWithShape="1">
          <a:blip r:embed="rId4">
            <a:alphaModFix/>
          </a:blip>
          <a:srcRect/>
          <a:stretch/>
        </p:blipFill>
        <p:spPr>
          <a:xfrm>
            <a:off x="8127950" y="2333625"/>
            <a:ext cx="3492400" cy="3076575"/>
          </a:xfrm>
          <a:prstGeom prst="rect">
            <a:avLst/>
          </a:prstGeom>
          <a:noFill/>
          <a:ln>
            <a:noFill/>
          </a:ln>
        </p:spPr>
      </p:pic>
      <p:sp>
        <p:nvSpPr>
          <p:cNvPr id="119" name="Google Shape;119;p15"/>
          <p:cNvSpPr txBox="1"/>
          <p:nvPr/>
        </p:nvSpPr>
        <p:spPr>
          <a:xfrm>
            <a:off x="914400" y="3381375"/>
            <a:ext cx="294693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6B6D4"/>
                </a:solidFill>
                <a:latin typeface="Urbanist"/>
                <a:ea typeface="Urbanist"/>
                <a:cs typeface="Urbanist"/>
                <a:sym typeface="Urbanist"/>
              </a:rPr>
              <a:t>Thông minh</a:t>
            </a:r>
            <a:endParaRPr/>
          </a:p>
        </p:txBody>
      </p:sp>
      <p:sp>
        <p:nvSpPr>
          <p:cNvPr id="120" name="Google Shape;120;p15"/>
          <p:cNvSpPr txBox="1"/>
          <p:nvPr/>
        </p:nvSpPr>
        <p:spPr>
          <a:xfrm>
            <a:off x="914400" y="3848100"/>
            <a:ext cx="28066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Xây dựng hệ thống tư vấn sử dụng mô hình ngôn ngữ lớn (LLM) để tương tác tự nhiên.</a:t>
            </a:r>
            <a:endParaRPr/>
          </a:p>
        </p:txBody>
      </p:sp>
      <p:sp>
        <p:nvSpPr>
          <p:cNvPr id="121" name="Google Shape;121;p15"/>
          <p:cNvSpPr txBox="1"/>
          <p:nvPr/>
        </p:nvSpPr>
        <p:spPr>
          <a:xfrm>
            <a:off x="4692550" y="3381375"/>
            <a:ext cx="29470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6B6D4"/>
                </a:solidFill>
                <a:latin typeface="Urbanist"/>
                <a:ea typeface="Urbanist"/>
                <a:cs typeface="Urbanist"/>
                <a:sym typeface="Urbanist"/>
              </a:rPr>
              <a:t>Cá nhân hóa</a:t>
            </a:r>
            <a:endParaRPr/>
          </a:p>
        </p:txBody>
      </p:sp>
      <p:sp>
        <p:nvSpPr>
          <p:cNvPr id="122" name="Google Shape;122;p15"/>
          <p:cNvSpPr txBox="1"/>
          <p:nvPr/>
        </p:nvSpPr>
        <p:spPr>
          <a:xfrm>
            <a:off x="4692550" y="3848100"/>
            <a:ext cx="2806749"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Dựa trên Holland Code, sở thích và điều kiện kinh tế của từng học sinh để đưa ra lời khuyên.</a:t>
            </a:r>
            <a:endParaRPr/>
          </a:p>
        </p:txBody>
      </p:sp>
      <p:sp>
        <p:nvSpPr>
          <p:cNvPr id="123" name="Google Shape;123;p15"/>
          <p:cNvSpPr txBox="1"/>
          <p:nvPr/>
        </p:nvSpPr>
        <p:spPr>
          <a:xfrm>
            <a:off x="8470850" y="3381375"/>
            <a:ext cx="294693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6B6D4"/>
                </a:solidFill>
                <a:latin typeface="Urbanist"/>
                <a:ea typeface="Urbanist"/>
                <a:cs typeface="Urbanist"/>
                <a:sym typeface="Urbanist"/>
              </a:rPr>
              <a:t>Tin cậy</a:t>
            </a:r>
            <a:endParaRPr/>
          </a:p>
        </p:txBody>
      </p:sp>
      <p:sp>
        <p:nvSpPr>
          <p:cNvPr id="124" name="Google Shape;124;p15"/>
          <p:cNvSpPr txBox="1"/>
          <p:nvPr/>
        </p:nvSpPr>
        <p:spPr>
          <a:xfrm>
            <a:off x="8470850" y="3848100"/>
            <a:ext cx="280660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Đảm bảo tính chính xác, minh bạch qua RAG và cơ chế Resilience với fallback.</a:t>
            </a:r>
            <a:endParaRPr/>
          </a:p>
        </p:txBody>
      </p:sp>
      <p:pic>
        <p:nvPicPr>
          <p:cNvPr id="125" name="Google Shape;125;p15" descr="image.png"/>
          <p:cNvPicPr preferRelativeResize="0"/>
          <p:nvPr/>
        </p:nvPicPr>
        <p:blipFill rotWithShape="1">
          <a:blip r:embed="rId6">
            <a:alphaModFix/>
          </a:blip>
          <a:srcRect/>
          <a:stretch/>
        </p:blipFill>
        <p:spPr>
          <a:xfrm>
            <a:off x="914400" y="2714625"/>
            <a:ext cx="381000" cy="381000"/>
          </a:xfrm>
          <a:prstGeom prst="rect">
            <a:avLst/>
          </a:prstGeom>
          <a:noFill/>
          <a:ln>
            <a:noFill/>
          </a:ln>
        </p:spPr>
      </p:pic>
      <p:pic>
        <p:nvPicPr>
          <p:cNvPr id="126" name="Google Shape;126;p15" descr="image.png"/>
          <p:cNvPicPr preferRelativeResize="0"/>
          <p:nvPr/>
        </p:nvPicPr>
        <p:blipFill rotWithShape="1">
          <a:blip r:embed="rId7">
            <a:alphaModFix/>
          </a:blip>
          <a:srcRect/>
          <a:stretch/>
        </p:blipFill>
        <p:spPr>
          <a:xfrm>
            <a:off x="4692550" y="2714625"/>
            <a:ext cx="381000" cy="381000"/>
          </a:xfrm>
          <a:prstGeom prst="rect">
            <a:avLst/>
          </a:prstGeom>
          <a:noFill/>
          <a:ln>
            <a:noFill/>
          </a:ln>
        </p:spPr>
      </p:pic>
      <p:pic>
        <p:nvPicPr>
          <p:cNvPr id="127" name="Google Shape;127;p15" descr="image.png"/>
          <p:cNvPicPr preferRelativeResize="0"/>
          <p:nvPr/>
        </p:nvPicPr>
        <p:blipFill rotWithShape="1">
          <a:blip r:embed="rId8">
            <a:alphaModFix/>
          </a:blip>
          <a:srcRect/>
          <a:stretch/>
        </p:blipFill>
        <p:spPr>
          <a:xfrm>
            <a:off x="8470850" y="2714625"/>
            <a:ext cx="381000" cy="381000"/>
          </a:xfrm>
          <a:prstGeom prst="rect">
            <a:avLst/>
          </a:prstGeom>
          <a:noFill/>
          <a:ln>
            <a:noFill/>
          </a:ln>
        </p:spPr>
      </p:pic>
      <p:sp>
        <p:nvSpPr>
          <p:cNvPr id="128" name="Google Shape;128;p15"/>
          <p:cNvSpPr txBox="1"/>
          <p:nvPr/>
        </p:nvSpPr>
        <p:spPr>
          <a:xfrm>
            <a:off x="809625" y="571500"/>
            <a:ext cx="11351418"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FFFFF"/>
                </a:solidFill>
                <a:latin typeface="Urbanist"/>
                <a:ea typeface="Urbanist"/>
                <a:cs typeface="Urbanist"/>
                <a:sym typeface="Urbanist"/>
              </a:rPr>
              <a:t>Mục tiêu Chiến lược của Dự án</a:t>
            </a:r>
            <a:endParaRPr/>
          </a:p>
        </p:txBody>
      </p:sp>
      <p:sp>
        <p:nvSpPr>
          <p:cNvPr id="129" name="Google Shape;129;p15"/>
          <p:cNvSpPr/>
          <p:nvPr/>
        </p:nvSpPr>
        <p:spPr>
          <a:xfrm>
            <a:off x="571500" y="571500"/>
            <a:ext cx="57150"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4"/>
        <p:cNvGrpSpPr/>
        <p:nvPr/>
      </p:nvGrpSpPr>
      <p:grpSpPr>
        <a:xfrm>
          <a:off x="0" y="0"/>
          <a:ext cx="0" cy="0"/>
          <a:chOff x="0" y="0"/>
          <a:chExt cx="0" cy="0"/>
        </a:xfrm>
      </p:grpSpPr>
      <p:pic>
        <p:nvPicPr>
          <p:cNvPr id="115" name="Google Shape;11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6" name="Google Shape;116;p15" descr="image.png"/>
          <p:cNvPicPr preferRelativeResize="0"/>
          <p:nvPr/>
        </p:nvPicPr>
        <p:blipFill rotWithShape="1">
          <a:blip r:embed="rId4">
            <a:alphaModFix/>
          </a:blip>
          <a:srcRect/>
          <a:stretch/>
        </p:blipFill>
        <p:spPr>
          <a:xfrm>
            <a:off x="571500" y="2333625"/>
            <a:ext cx="3492400" cy="3076575"/>
          </a:xfrm>
          <a:prstGeom prst="rect">
            <a:avLst/>
          </a:prstGeom>
          <a:noFill/>
          <a:ln>
            <a:noFill/>
          </a:ln>
        </p:spPr>
      </p:pic>
      <p:pic>
        <p:nvPicPr>
          <p:cNvPr id="117" name="Google Shape;117;p15" descr="image.png"/>
          <p:cNvPicPr preferRelativeResize="0"/>
          <p:nvPr/>
        </p:nvPicPr>
        <p:blipFill rotWithShape="1">
          <a:blip r:embed="rId5">
            <a:alphaModFix/>
          </a:blip>
          <a:srcRect/>
          <a:stretch/>
        </p:blipFill>
        <p:spPr>
          <a:xfrm>
            <a:off x="4349650" y="2333625"/>
            <a:ext cx="3492549" cy="3076575"/>
          </a:xfrm>
          <a:prstGeom prst="rect">
            <a:avLst/>
          </a:prstGeom>
          <a:noFill/>
          <a:ln>
            <a:noFill/>
          </a:ln>
        </p:spPr>
      </p:pic>
      <p:pic>
        <p:nvPicPr>
          <p:cNvPr id="118" name="Google Shape;118;p15" descr="image.png"/>
          <p:cNvPicPr preferRelativeResize="0"/>
          <p:nvPr/>
        </p:nvPicPr>
        <p:blipFill rotWithShape="1">
          <a:blip r:embed="rId4">
            <a:alphaModFix/>
          </a:blip>
          <a:srcRect/>
          <a:stretch/>
        </p:blipFill>
        <p:spPr>
          <a:xfrm>
            <a:off x="8127950" y="2333625"/>
            <a:ext cx="3492400" cy="3076575"/>
          </a:xfrm>
          <a:prstGeom prst="rect">
            <a:avLst/>
          </a:prstGeom>
          <a:noFill/>
          <a:ln>
            <a:noFill/>
          </a:ln>
        </p:spPr>
      </p:pic>
      <p:sp>
        <p:nvSpPr>
          <p:cNvPr id="119" name="Google Shape;119;p15"/>
          <p:cNvSpPr txBox="1"/>
          <p:nvPr/>
        </p:nvSpPr>
        <p:spPr>
          <a:xfrm>
            <a:off x="914400" y="3381375"/>
            <a:ext cx="294693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06B6D4"/>
                </a:solidFill>
                <a:latin typeface="Urbanist"/>
                <a:ea typeface="Urbanist"/>
                <a:cs typeface="Urbanist"/>
                <a:sym typeface="Urbanist"/>
              </a:rPr>
              <a:t>Đăng ký/đăng nhập</a:t>
            </a:r>
            <a:endParaRPr/>
          </a:p>
        </p:txBody>
      </p:sp>
      <p:sp>
        <p:nvSpPr>
          <p:cNvPr id="120" name="Google Shape;120;p15"/>
          <p:cNvSpPr txBox="1"/>
          <p:nvPr/>
        </p:nvSpPr>
        <p:spPr>
          <a:xfrm>
            <a:off x="914400" y="3848100"/>
            <a:ext cx="280660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a:solidFill>
                  <a:srgbClr val="94A3B8"/>
                </a:solidFill>
                <a:latin typeface="Inter"/>
                <a:ea typeface="Inter"/>
                <a:sym typeface="Inter"/>
              </a:rPr>
              <a:t>Đăng ký/ đăng nhập hệ thống</a:t>
            </a:r>
            <a:endParaRPr/>
          </a:p>
        </p:txBody>
      </p:sp>
      <p:sp>
        <p:nvSpPr>
          <p:cNvPr id="121" name="Google Shape;121;p15"/>
          <p:cNvSpPr txBox="1"/>
          <p:nvPr/>
        </p:nvSpPr>
        <p:spPr>
          <a:xfrm>
            <a:off x="4692550" y="3381375"/>
            <a:ext cx="29470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6B6D4"/>
                </a:solidFill>
                <a:latin typeface="Urbanist"/>
                <a:ea typeface="Urbanist"/>
                <a:cs typeface="Urbanist"/>
                <a:sym typeface="Urbanist"/>
              </a:rPr>
              <a:t>Chatbot</a:t>
            </a:r>
            <a:endParaRPr/>
          </a:p>
        </p:txBody>
      </p:sp>
      <p:sp>
        <p:nvSpPr>
          <p:cNvPr id="122" name="Google Shape;122;p15"/>
          <p:cNvSpPr txBox="1"/>
          <p:nvPr/>
        </p:nvSpPr>
        <p:spPr>
          <a:xfrm>
            <a:off x="4692550" y="3848100"/>
            <a:ext cx="2806749"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a:solidFill>
                  <a:srgbClr val="94A3B8"/>
                </a:solidFill>
                <a:latin typeface="Inter"/>
                <a:ea typeface="Inter"/>
                <a:sym typeface="Inter"/>
              </a:rPr>
              <a:t>Dựa trên thông tin ng</a:t>
            </a:r>
            <a:r>
              <a:rPr lang="vi-VN" sz="1500">
                <a:solidFill>
                  <a:srgbClr val="94A3B8"/>
                </a:solidFill>
                <a:latin typeface="Inter"/>
                <a:ea typeface="Inter"/>
                <a:sym typeface="Inter"/>
              </a:rPr>
              <a:t>ư</a:t>
            </a:r>
            <a:r>
              <a:rPr lang="en-US" sz="1500">
                <a:solidFill>
                  <a:srgbClr val="94A3B8"/>
                </a:solidFill>
                <a:latin typeface="Inter"/>
                <a:ea typeface="Inter"/>
                <a:sym typeface="Inter"/>
              </a:rPr>
              <a:t>ời dùng cung cấp để đ</a:t>
            </a:r>
            <a:r>
              <a:rPr lang="vi-VN" sz="1500">
                <a:solidFill>
                  <a:srgbClr val="94A3B8"/>
                </a:solidFill>
                <a:latin typeface="Inter"/>
                <a:ea typeface="Inter"/>
                <a:sym typeface="Inter"/>
              </a:rPr>
              <a:t>ư</a:t>
            </a:r>
            <a:r>
              <a:rPr lang="en-US" sz="1500">
                <a:solidFill>
                  <a:srgbClr val="94A3B8"/>
                </a:solidFill>
                <a:latin typeface="Inter"/>
                <a:ea typeface="Inter"/>
                <a:sym typeface="Inter"/>
              </a:rPr>
              <a:t>a ra ngành nghề hợp lý</a:t>
            </a:r>
            <a:endParaRPr/>
          </a:p>
        </p:txBody>
      </p:sp>
      <p:sp>
        <p:nvSpPr>
          <p:cNvPr id="123" name="Google Shape;123;p15"/>
          <p:cNvSpPr txBox="1"/>
          <p:nvPr/>
        </p:nvSpPr>
        <p:spPr>
          <a:xfrm>
            <a:off x="8470850" y="3381375"/>
            <a:ext cx="2946930" cy="323850"/>
          </a:xfrm>
          <a:prstGeom prst="rect">
            <a:avLst/>
          </a:prstGeom>
          <a:noFill/>
          <a:ln>
            <a:noFill/>
          </a:ln>
        </p:spPr>
        <p:txBody>
          <a:bodyPr spcFirstLastPara="1" wrap="square" lIns="0" tIns="0" rIns="0" bIns="0" anchor="t" anchorCtr="0">
            <a:spAutoFit/>
          </a:bodyPr>
          <a:lstStyle/>
          <a:p>
            <a:pPr lvl="0"/>
            <a:r>
              <a:rPr lang="en-US" sz="2100" b="1">
                <a:solidFill>
                  <a:srgbClr val="06B6D4"/>
                </a:solidFill>
                <a:latin typeface="Urbanist"/>
                <a:ea typeface="Urbanist"/>
                <a:cs typeface="Urbanist"/>
                <a:sym typeface="Urbanist"/>
              </a:rPr>
              <a:t>Trắc nghiệm Holland</a:t>
            </a:r>
            <a:endParaRPr lang="en-US" sz="2400"/>
          </a:p>
        </p:txBody>
      </p:sp>
      <p:sp>
        <p:nvSpPr>
          <p:cNvPr id="124" name="Google Shape;124;p15"/>
          <p:cNvSpPr txBox="1"/>
          <p:nvPr/>
        </p:nvSpPr>
        <p:spPr>
          <a:xfrm>
            <a:off x="8470850" y="3848100"/>
            <a:ext cx="280660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Là công cụ khoa học giúp đáng giá tính cách và định h</a:t>
            </a:r>
            <a:r>
              <a:rPr lang="vi-VN" sz="1500" b="0" i="0" u="none" strike="noStrike" cap="none">
                <a:solidFill>
                  <a:srgbClr val="94A3B8"/>
                </a:solidFill>
                <a:latin typeface="Inter"/>
                <a:ea typeface="Inter"/>
                <a:cs typeface="Inter"/>
                <a:sym typeface="Inter"/>
              </a:rPr>
              <a:t>ư</a:t>
            </a:r>
            <a:r>
              <a:rPr lang="en-US" sz="1500">
                <a:solidFill>
                  <a:srgbClr val="94A3B8"/>
                </a:solidFill>
                <a:latin typeface="Inter"/>
                <a:ea typeface="Inter"/>
                <a:cs typeface="Inter"/>
                <a:sym typeface="Inter"/>
              </a:rPr>
              <a:t>ớng nghề nghiệp</a:t>
            </a:r>
            <a:endParaRPr/>
          </a:p>
        </p:txBody>
      </p:sp>
      <p:pic>
        <p:nvPicPr>
          <p:cNvPr id="125" name="Google Shape;125;p15" descr="image.png"/>
          <p:cNvPicPr preferRelativeResize="0"/>
          <p:nvPr/>
        </p:nvPicPr>
        <p:blipFill rotWithShape="1">
          <a:blip r:embed="rId6">
            <a:alphaModFix/>
          </a:blip>
          <a:srcRect/>
          <a:stretch/>
        </p:blipFill>
        <p:spPr>
          <a:xfrm>
            <a:off x="914400" y="2714625"/>
            <a:ext cx="381000" cy="381000"/>
          </a:xfrm>
          <a:prstGeom prst="rect">
            <a:avLst/>
          </a:prstGeom>
          <a:noFill/>
          <a:ln>
            <a:noFill/>
          </a:ln>
        </p:spPr>
      </p:pic>
      <p:pic>
        <p:nvPicPr>
          <p:cNvPr id="126" name="Google Shape;126;p15" descr="image.png"/>
          <p:cNvPicPr preferRelativeResize="0"/>
          <p:nvPr/>
        </p:nvPicPr>
        <p:blipFill rotWithShape="1">
          <a:blip r:embed="rId7">
            <a:alphaModFix/>
          </a:blip>
          <a:srcRect/>
          <a:stretch/>
        </p:blipFill>
        <p:spPr>
          <a:xfrm>
            <a:off x="4692550" y="2714625"/>
            <a:ext cx="381000" cy="381000"/>
          </a:xfrm>
          <a:prstGeom prst="rect">
            <a:avLst/>
          </a:prstGeom>
          <a:noFill/>
          <a:ln>
            <a:noFill/>
          </a:ln>
        </p:spPr>
      </p:pic>
      <p:pic>
        <p:nvPicPr>
          <p:cNvPr id="127" name="Google Shape;127;p15" descr="image.png"/>
          <p:cNvPicPr preferRelativeResize="0"/>
          <p:nvPr/>
        </p:nvPicPr>
        <p:blipFill rotWithShape="1">
          <a:blip r:embed="rId8">
            <a:alphaModFix/>
          </a:blip>
          <a:srcRect/>
          <a:stretch/>
        </p:blipFill>
        <p:spPr>
          <a:xfrm>
            <a:off x="8470850" y="2714625"/>
            <a:ext cx="381000" cy="381000"/>
          </a:xfrm>
          <a:prstGeom prst="rect">
            <a:avLst/>
          </a:prstGeom>
          <a:noFill/>
          <a:ln>
            <a:noFill/>
          </a:ln>
        </p:spPr>
      </p:pic>
      <p:sp>
        <p:nvSpPr>
          <p:cNvPr id="128" name="Google Shape;128;p15"/>
          <p:cNvSpPr txBox="1"/>
          <p:nvPr/>
        </p:nvSpPr>
        <p:spPr>
          <a:xfrm>
            <a:off x="809625" y="571500"/>
            <a:ext cx="11351418"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a:solidFill>
                  <a:srgbClr val="FFFFFF"/>
                </a:solidFill>
                <a:latin typeface="Urbanist"/>
                <a:ea typeface="Urbanist"/>
                <a:cs typeface="Urbanist"/>
                <a:sym typeface="Urbanist"/>
              </a:rPr>
              <a:t>Chức năng</a:t>
            </a:r>
            <a:endParaRPr/>
          </a:p>
        </p:txBody>
      </p:sp>
      <p:sp>
        <p:nvSpPr>
          <p:cNvPr id="129" name="Google Shape;129;p15"/>
          <p:cNvSpPr/>
          <p:nvPr/>
        </p:nvSpPr>
        <p:spPr>
          <a:xfrm>
            <a:off x="571500" y="571500"/>
            <a:ext cx="57150"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7003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33"/>
        <p:cNvGrpSpPr/>
        <p:nvPr/>
      </p:nvGrpSpPr>
      <p:grpSpPr>
        <a:xfrm>
          <a:off x="0" y="0"/>
          <a:ext cx="0" cy="0"/>
          <a:chOff x="0" y="0"/>
          <a:chExt cx="0" cy="0"/>
        </a:xfrm>
      </p:grpSpPr>
      <p:pic>
        <p:nvPicPr>
          <p:cNvPr id="134" name="Google Shape;134;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5" name="Google Shape;135;p16"/>
          <p:cNvSpPr/>
          <p:nvPr/>
        </p:nvSpPr>
        <p:spPr>
          <a:xfrm>
            <a:off x="5619750" y="857250"/>
            <a:ext cx="952500" cy="5715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 name="Google Shape;136;p16"/>
          <p:cNvSpPr txBox="1"/>
          <p:nvPr/>
        </p:nvSpPr>
        <p:spPr>
          <a:xfrm>
            <a:off x="295275" y="1200150"/>
            <a:ext cx="11601450"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FFFFF"/>
                </a:solidFill>
                <a:latin typeface="Urbanist"/>
                <a:ea typeface="Urbanist"/>
                <a:cs typeface="Urbanist"/>
                <a:sym typeface="Urbanist"/>
              </a:rPr>
              <a:t>Kiến trúc </a:t>
            </a:r>
            <a:r>
              <a:rPr lang="en-US" sz="6000" b="1" i="0" u="none" strike="noStrike" cap="none">
                <a:solidFill>
                  <a:srgbClr val="06B6D4"/>
                </a:solidFill>
                <a:latin typeface="Urbanist"/>
                <a:ea typeface="Urbanist"/>
                <a:cs typeface="Urbanist"/>
                <a:sym typeface="Urbanist"/>
              </a:rPr>
              <a:t>Hệ thống</a:t>
            </a:r>
            <a:endParaRPr/>
          </a:p>
        </p:txBody>
      </p:sp>
      <p:sp>
        <p:nvSpPr>
          <p:cNvPr id="137" name="Google Shape;137;p16"/>
          <p:cNvSpPr txBox="1"/>
          <p:nvPr/>
        </p:nvSpPr>
        <p:spPr>
          <a:xfrm>
            <a:off x="2286000" y="2114550"/>
            <a:ext cx="7620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Tổng quan về luồng dữ liệu và sự kết hợp giữa các tầng công nghệ hiện đại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1"/>
        <p:cNvGrpSpPr/>
        <p:nvPr/>
      </p:nvGrpSpPr>
      <p:grpSpPr>
        <a:xfrm>
          <a:off x="0" y="0"/>
          <a:ext cx="0" cy="0"/>
          <a:chOff x="0" y="0"/>
          <a:chExt cx="0" cy="0"/>
        </a:xfrm>
      </p:grpSpPr>
      <p:pic>
        <p:nvPicPr>
          <p:cNvPr id="142" name="Google Shape;14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3" name="Google Shape;143;p17" descr="image.png"/>
          <p:cNvPicPr preferRelativeResize="0"/>
          <p:nvPr/>
        </p:nvPicPr>
        <p:blipFill rotWithShape="1">
          <a:blip r:embed="rId4">
            <a:alphaModFix/>
          </a:blip>
          <a:srcRect/>
          <a:stretch/>
        </p:blipFill>
        <p:spPr>
          <a:xfrm>
            <a:off x="571500" y="2247900"/>
            <a:ext cx="5286375" cy="3248025"/>
          </a:xfrm>
          <a:prstGeom prst="rect">
            <a:avLst/>
          </a:prstGeom>
          <a:noFill/>
          <a:ln>
            <a:noFill/>
          </a:ln>
        </p:spPr>
      </p:pic>
      <p:pic>
        <p:nvPicPr>
          <p:cNvPr id="144" name="Google Shape;144;p17" descr="image.png"/>
          <p:cNvPicPr preferRelativeResize="0"/>
          <p:nvPr/>
        </p:nvPicPr>
        <p:blipFill rotWithShape="1">
          <a:blip r:embed="rId5">
            <a:alphaModFix/>
          </a:blip>
          <a:srcRect/>
          <a:stretch/>
        </p:blipFill>
        <p:spPr>
          <a:xfrm>
            <a:off x="6334125" y="2247900"/>
            <a:ext cx="5286375" cy="3248025"/>
          </a:xfrm>
          <a:prstGeom prst="rect">
            <a:avLst/>
          </a:prstGeom>
          <a:noFill/>
          <a:ln>
            <a:noFill/>
          </a:ln>
        </p:spPr>
      </p:pic>
      <p:sp>
        <p:nvSpPr>
          <p:cNvPr id="145" name="Google Shape;145;p17"/>
          <p:cNvSpPr txBox="1"/>
          <p:nvPr/>
        </p:nvSpPr>
        <p:spPr>
          <a:xfrm>
            <a:off x="914400" y="2590800"/>
            <a:ext cx="483060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6B6D4"/>
                </a:solidFill>
                <a:latin typeface="Urbanist"/>
                <a:ea typeface="Urbanist"/>
                <a:cs typeface="Urbanist"/>
                <a:sym typeface="Urbanist"/>
              </a:rPr>
              <a:t>Frontend - Angular 17</a:t>
            </a:r>
            <a:endParaRPr/>
          </a:p>
        </p:txBody>
      </p:sp>
      <p:sp>
        <p:nvSpPr>
          <p:cNvPr id="146" name="Google Shape;146;p17"/>
          <p:cNvSpPr txBox="1"/>
          <p:nvPr/>
        </p:nvSpPr>
        <p:spPr>
          <a:xfrm>
            <a:off x="6677025" y="2590800"/>
            <a:ext cx="483060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6B6D4"/>
                </a:solidFill>
                <a:latin typeface="Urbanist"/>
                <a:ea typeface="Urbanist"/>
                <a:cs typeface="Urbanist"/>
                <a:sym typeface="Urbanist"/>
              </a:rPr>
              <a:t>Backend - FastAPI</a:t>
            </a:r>
            <a:endParaRPr/>
          </a:p>
        </p:txBody>
      </p:sp>
      <p:sp>
        <p:nvSpPr>
          <p:cNvPr id="147" name="Google Shape;147;p17"/>
          <p:cNvSpPr txBox="1"/>
          <p:nvPr/>
        </p:nvSpPr>
        <p:spPr>
          <a:xfrm>
            <a:off x="1343025" y="3057525"/>
            <a:ext cx="4171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Assessment:</a:t>
            </a:r>
            <a:r>
              <a:rPr lang="en-US" sz="1500" b="0" i="0" u="none" strike="noStrike" cap="none">
                <a:solidFill>
                  <a:srgbClr val="94A3B8"/>
                </a:solidFill>
                <a:latin typeface="Inter"/>
                <a:ea typeface="Inter"/>
                <a:cs typeface="Inter"/>
                <a:sym typeface="Inter"/>
              </a:rPr>
              <a:t> Trắc nghiệm Holland Code trực quan.</a:t>
            </a:r>
            <a:endParaRPr/>
          </a:p>
        </p:txBody>
      </p:sp>
      <p:sp>
        <p:nvSpPr>
          <p:cNvPr id="148" name="Google Shape;148;p17"/>
          <p:cNvSpPr txBox="1"/>
          <p:nvPr/>
        </p:nvSpPr>
        <p:spPr>
          <a:xfrm>
            <a:off x="1343025" y="3857625"/>
            <a:ext cx="41719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Chat UI:</a:t>
            </a:r>
            <a:r>
              <a:rPr lang="en-US" sz="1500" b="0" i="0" u="none" strike="noStrike" cap="none">
                <a:solidFill>
                  <a:srgbClr val="94A3B8"/>
                </a:solidFill>
                <a:latin typeface="Inter"/>
                <a:ea typeface="Inter"/>
                <a:cs typeface="Inter"/>
                <a:sym typeface="Inter"/>
              </a:rPr>
              <a:t> Giao diện tương tác AI thời gian thực.</a:t>
            </a:r>
            <a:endParaRPr/>
          </a:p>
        </p:txBody>
      </p:sp>
      <p:sp>
        <p:nvSpPr>
          <p:cNvPr id="149" name="Google Shape;149;p17"/>
          <p:cNvSpPr txBox="1"/>
          <p:nvPr/>
        </p:nvSpPr>
        <p:spPr>
          <a:xfrm>
            <a:off x="1343025" y="4352925"/>
            <a:ext cx="4171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Dashboard:</a:t>
            </a:r>
            <a:r>
              <a:rPr lang="en-US" sz="1500" b="0" i="0" u="none" strike="noStrike" cap="none">
                <a:solidFill>
                  <a:srgbClr val="94A3B8"/>
                </a:solidFill>
                <a:latin typeface="Inter"/>
                <a:ea typeface="Inter"/>
                <a:cs typeface="Inter"/>
                <a:sym typeface="Inter"/>
              </a:rPr>
              <a:t> Phân tích kết quả qua biểu đồ XAI.</a:t>
            </a:r>
            <a:endParaRPr/>
          </a:p>
        </p:txBody>
      </p:sp>
      <p:sp>
        <p:nvSpPr>
          <p:cNvPr id="150" name="Google Shape;150;p17"/>
          <p:cNvSpPr txBox="1"/>
          <p:nvPr/>
        </p:nvSpPr>
        <p:spPr>
          <a:xfrm>
            <a:off x="7105650" y="3057525"/>
            <a:ext cx="41719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API:</a:t>
            </a:r>
            <a:r>
              <a:rPr lang="en-US" sz="1500" b="0" i="0" u="none" strike="noStrike" cap="none">
                <a:solidFill>
                  <a:srgbClr val="94A3B8"/>
                </a:solidFill>
                <a:latin typeface="Inter"/>
                <a:ea typeface="Inter"/>
                <a:cs typeface="Inter"/>
                <a:sym typeface="Inter"/>
              </a:rPr>
              <a:t> FastAPI hiệu năng cao cho Chat &amp; Auth.</a:t>
            </a:r>
            <a:endParaRPr/>
          </a:p>
        </p:txBody>
      </p:sp>
      <p:sp>
        <p:nvSpPr>
          <p:cNvPr id="151" name="Google Shape;151;p17"/>
          <p:cNvSpPr txBox="1"/>
          <p:nvPr/>
        </p:nvSpPr>
        <p:spPr>
          <a:xfrm>
            <a:off x="7105650" y="3552825"/>
            <a:ext cx="4171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Database:</a:t>
            </a:r>
            <a:r>
              <a:rPr lang="en-US" sz="1500" b="0" i="0" u="none" strike="noStrike" cap="none">
                <a:solidFill>
                  <a:srgbClr val="94A3B8"/>
                </a:solidFill>
                <a:latin typeface="Inter"/>
                <a:ea typeface="Inter"/>
                <a:cs typeface="Inter"/>
                <a:sym typeface="Inter"/>
              </a:rPr>
              <a:t> PostgreSQL kết hợp SQLAlchemy ORM.</a:t>
            </a:r>
            <a:endParaRPr/>
          </a:p>
        </p:txBody>
      </p:sp>
      <p:sp>
        <p:nvSpPr>
          <p:cNvPr id="152" name="Google Shape;152;p17"/>
          <p:cNvSpPr txBox="1"/>
          <p:nvPr/>
        </p:nvSpPr>
        <p:spPr>
          <a:xfrm>
            <a:off x="7105650" y="4352925"/>
            <a:ext cx="41719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Security:</a:t>
            </a:r>
            <a:r>
              <a:rPr lang="en-US" sz="1500" b="0" i="0" u="none" strike="noStrike" cap="none">
                <a:solidFill>
                  <a:srgbClr val="94A3B8"/>
                </a:solidFill>
                <a:latin typeface="Inter"/>
                <a:ea typeface="Inter"/>
                <a:cs typeface="Inter"/>
                <a:sym typeface="Inter"/>
              </a:rPr>
              <a:t> JWT tokens &amp; Prompt injection guardrails.</a:t>
            </a:r>
            <a:endParaRPr/>
          </a:p>
        </p:txBody>
      </p:sp>
      <p:pic>
        <p:nvPicPr>
          <p:cNvPr id="153" name="Google Shape;153;p17" descr="image.png"/>
          <p:cNvPicPr preferRelativeResize="0"/>
          <p:nvPr/>
        </p:nvPicPr>
        <p:blipFill rotWithShape="1">
          <a:blip r:embed="rId6">
            <a:alphaModFix/>
          </a:blip>
          <a:srcRect/>
          <a:stretch/>
        </p:blipFill>
        <p:spPr>
          <a:xfrm>
            <a:off x="914400" y="3095625"/>
            <a:ext cx="200025" cy="247650"/>
          </a:xfrm>
          <a:prstGeom prst="rect">
            <a:avLst/>
          </a:prstGeom>
          <a:noFill/>
          <a:ln>
            <a:noFill/>
          </a:ln>
        </p:spPr>
      </p:pic>
      <p:pic>
        <p:nvPicPr>
          <p:cNvPr id="154" name="Google Shape;154;p17" descr="image.png"/>
          <p:cNvPicPr preferRelativeResize="0"/>
          <p:nvPr/>
        </p:nvPicPr>
        <p:blipFill rotWithShape="1">
          <a:blip r:embed="rId6">
            <a:alphaModFix/>
          </a:blip>
          <a:srcRect/>
          <a:stretch/>
        </p:blipFill>
        <p:spPr>
          <a:xfrm>
            <a:off x="914400" y="3895725"/>
            <a:ext cx="200025" cy="247650"/>
          </a:xfrm>
          <a:prstGeom prst="rect">
            <a:avLst/>
          </a:prstGeom>
          <a:noFill/>
          <a:ln>
            <a:noFill/>
          </a:ln>
        </p:spPr>
      </p:pic>
      <p:pic>
        <p:nvPicPr>
          <p:cNvPr id="155" name="Google Shape;155;p17" descr="image.png"/>
          <p:cNvPicPr preferRelativeResize="0"/>
          <p:nvPr/>
        </p:nvPicPr>
        <p:blipFill rotWithShape="1">
          <a:blip r:embed="rId6">
            <a:alphaModFix/>
          </a:blip>
          <a:srcRect/>
          <a:stretch/>
        </p:blipFill>
        <p:spPr>
          <a:xfrm>
            <a:off x="914400" y="4391025"/>
            <a:ext cx="200025" cy="247650"/>
          </a:xfrm>
          <a:prstGeom prst="rect">
            <a:avLst/>
          </a:prstGeom>
          <a:noFill/>
          <a:ln>
            <a:noFill/>
          </a:ln>
        </p:spPr>
      </p:pic>
      <p:pic>
        <p:nvPicPr>
          <p:cNvPr id="156" name="Google Shape;156;p17" descr="image.png"/>
          <p:cNvPicPr preferRelativeResize="0"/>
          <p:nvPr/>
        </p:nvPicPr>
        <p:blipFill rotWithShape="1">
          <a:blip r:embed="rId7">
            <a:alphaModFix/>
          </a:blip>
          <a:srcRect/>
          <a:stretch/>
        </p:blipFill>
        <p:spPr>
          <a:xfrm>
            <a:off x="6677025" y="3095625"/>
            <a:ext cx="228600" cy="247650"/>
          </a:xfrm>
          <a:prstGeom prst="rect">
            <a:avLst/>
          </a:prstGeom>
          <a:noFill/>
          <a:ln>
            <a:noFill/>
          </a:ln>
        </p:spPr>
      </p:pic>
      <p:pic>
        <p:nvPicPr>
          <p:cNvPr id="157" name="Google Shape;157;p17" descr="image.png"/>
          <p:cNvPicPr preferRelativeResize="0"/>
          <p:nvPr/>
        </p:nvPicPr>
        <p:blipFill rotWithShape="1">
          <a:blip r:embed="rId8">
            <a:alphaModFix/>
          </a:blip>
          <a:srcRect/>
          <a:stretch/>
        </p:blipFill>
        <p:spPr>
          <a:xfrm>
            <a:off x="6677025" y="3590925"/>
            <a:ext cx="200025" cy="247650"/>
          </a:xfrm>
          <a:prstGeom prst="rect">
            <a:avLst/>
          </a:prstGeom>
          <a:noFill/>
          <a:ln>
            <a:noFill/>
          </a:ln>
        </p:spPr>
      </p:pic>
      <p:pic>
        <p:nvPicPr>
          <p:cNvPr id="158" name="Google Shape;158;p17" descr="image.png"/>
          <p:cNvPicPr preferRelativeResize="0"/>
          <p:nvPr/>
        </p:nvPicPr>
        <p:blipFill rotWithShape="1">
          <a:blip r:embed="rId9">
            <a:alphaModFix/>
          </a:blip>
          <a:srcRect/>
          <a:stretch/>
        </p:blipFill>
        <p:spPr>
          <a:xfrm>
            <a:off x="6677025" y="4391025"/>
            <a:ext cx="200025" cy="247650"/>
          </a:xfrm>
          <a:prstGeom prst="rect">
            <a:avLst/>
          </a:prstGeom>
          <a:noFill/>
          <a:ln>
            <a:noFill/>
          </a:ln>
        </p:spPr>
      </p:pic>
      <p:sp>
        <p:nvSpPr>
          <p:cNvPr id="159" name="Google Shape;159;p17"/>
          <p:cNvSpPr txBox="1"/>
          <p:nvPr/>
        </p:nvSpPr>
        <p:spPr>
          <a:xfrm>
            <a:off x="809625" y="571500"/>
            <a:ext cx="11351418"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FFFFF"/>
                </a:solidFill>
                <a:latin typeface="Urbanist"/>
                <a:ea typeface="Urbanist"/>
                <a:cs typeface="Urbanist"/>
                <a:sym typeface="Urbanist"/>
              </a:rPr>
              <a:t>Core Infrastructure: Front &amp; Back</a:t>
            </a:r>
            <a:endParaRPr/>
          </a:p>
        </p:txBody>
      </p:sp>
      <p:sp>
        <p:nvSpPr>
          <p:cNvPr id="160" name="Google Shape;160;p17"/>
          <p:cNvSpPr/>
          <p:nvPr/>
        </p:nvSpPr>
        <p:spPr>
          <a:xfrm>
            <a:off x="571500" y="571500"/>
            <a:ext cx="57150"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4"/>
        <p:cNvGrpSpPr/>
        <p:nvPr/>
      </p:nvGrpSpPr>
      <p:grpSpPr>
        <a:xfrm>
          <a:off x="0" y="0"/>
          <a:ext cx="0" cy="0"/>
          <a:chOff x="0" y="0"/>
          <a:chExt cx="0" cy="0"/>
        </a:xfrm>
      </p:grpSpPr>
      <p:pic>
        <p:nvPicPr>
          <p:cNvPr id="165" name="Google Shape;165;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6" name="Google Shape;166;p18" descr="image.png"/>
          <p:cNvPicPr preferRelativeResize="0"/>
          <p:nvPr/>
        </p:nvPicPr>
        <p:blipFill rotWithShape="1">
          <a:blip r:embed="rId4">
            <a:alphaModFix/>
          </a:blip>
          <a:srcRect/>
          <a:stretch/>
        </p:blipFill>
        <p:spPr>
          <a:xfrm>
            <a:off x="1071562" y="1728787"/>
            <a:ext cx="4286250" cy="4286250"/>
          </a:xfrm>
          <a:prstGeom prst="rect">
            <a:avLst/>
          </a:prstGeom>
          <a:noFill/>
          <a:ln>
            <a:noFill/>
          </a:ln>
        </p:spPr>
      </p:pic>
      <p:pic>
        <p:nvPicPr>
          <p:cNvPr id="167" name="Google Shape;167;p18" descr="image.png"/>
          <p:cNvPicPr preferRelativeResize="0"/>
          <p:nvPr/>
        </p:nvPicPr>
        <p:blipFill rotWithShape="1">
          <a:blip r:embed="rId5">
            <a:alphaModFix/>
          </a:blip>
          <a:srcRect/>
          <a:stretch/>
        </p:blipFill>
        <p:spPr>
          <a:xfrm>
            <a:off x="1081087" y="1738312"/>
            <a:ext cx="4267200" cy="4267200"/>
          </a:xfrm>
          <a:prstGeom prst="rect">
            <a:avLst/>
          </a:prstGeom>
          <a:noFill/>
          <a:ln>
            <a:noFill/>
          </a:ln>
        </p:spPr>
      </p:pic>
      <p:sp>
        <p:nvSpPr>
          <p:cNvPr id="168" name="Google Shape;168;p18"/>
          <p:cNvSpPr txBox="1"/>
          <p:nvPr/>
        </p:nvSpPr>
        <p:spPr>
          <a:xfrm>
            <a:off x="6334125" y="2343150"/>
            <a:ext cx="555069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6B6D4"/>
                </a:solidFill>
                <a:latin typeface="Urbanist"/>
                <a:ea typeface="Urbanist"/>
                <a:cs typeface="Urbanist"/>
                <a:sym typeface="Urbanist"/>
              </a:rPr>
              <a:t>Phân loại Ngành nghề Thông minh</a:t>
            </a:r>
            <a:endParaRPr/>
          </a:p>
        </p:txBody>
      </p:sp>
      <p:sp>
        <p:nvSpPr>
          <p:cNvPr id="169" name="Google Shape;169;p18"/>
          <p:cNvSpPr txBox="1"/>
          <p:nvPr/>
        </p:nvSpPr>
        <p:spPr>
          <a:xfrm>
            <a:off x="6334125" y="2809875"/>
            <a:ext cx="5286375"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Xử lý câu trả lời từ câu hỏi trắc nghiệm để xác định nhóm tính cách nổi trội.</a:t>
            </a:r>
            <a:endParaRPr/>
          </a:p>
        </p:txBody>
      </p:sp>
      <p:sp>
        <p:nvSpPr>
          <p:cNvPr id="170" name="Google Shape;170;p18"/>
          <p:cNvSpPr txBox="1"/>
          <p:nvPr/>
        </p:nvSpPr>
        <p:spPr>
          <a:xfrm>
            <a:off x="6762750" y="3609975"/>
            <a:ext cx="48577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Model:</a:t>
            </a:r>
            <a:r>
              <a:rPr lang="en-US" sz="1500" b="0" i="0" u="none" strike="noStrike" cap="none">
                <a:solidFill>
                  <a:srgbClr val="94A3B8"/>
                </a:solidFill>
                <a:latin typeface="Inter"/>
                <a:ea typeface="Inter"/>
                <a:cs typeface="Inter"/>
                <a:sym typeface="Inter"/>
              </a:rPr>
              <a:t> Scikit-learn (SVM).</a:t>
            </a:r>
            <a:endParaRPr/>
          </a:p>
        </p:txBody>
      </p:sp>
      <p:sp>
        <p:nvSpPr>
          <p:cNvPr id="171" name="Google Shape;171;p18"/>
          <p:cNvSpPr txBox="1"/>
          <p:nvPr/>
        </p:nvSpPr>
        <p:spPr>
          <a:xfrm>
            <a:off x="6762750" y="4105275"/>
            <a:ext cx="4857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Output:</a:t>
            </a:r>
            <a:r>
              <a:rPr lang="en-US" sz="1500" b="0" i="0" u="none" strike="noStrike" cap="none">
                <a:solidFill>
                  <a:srgbClr val="94A3B8"/>
                </a:solidFill>
                <a:latin typeface="Inter"/>
                <a:ea typeface="Inter"/>
                <a:cs typeface="Inter"/>
                <a:sym typeface="Inter"/>
              </a:rPr>
              <a:t> Holland Code (R, I, A, S, E, C).</a:t>
            </a:r>
            <a:endParaRPr/>
          </a:p>
        </p:txBody>
      </p:sp>
      <p:sp>
        <p:nvSpPr>
          <p:cNvPr id="172" name="Google Shape;172;p18"/>
          <p:cNvSpPr txBox="1"/>
          <p:nvPr/>
        </p:nvSpPr>
        <p:spPr>
          <a:xfrm>
            <a:off x="6762750" y="4600575"/>
            <a:ext cx="4857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Mục tiêu:</a:t>
            </a:r>
            <a:r>
              <a:rPr lang="en-US" sz="1500" b="0" i="0" u="none" strike="noStrike" cap="none">
                <a:solidFill>
                  <a:srgbClr val="94A3B8"/>
                </a:solidFill>
                <a:latin typeface="Inter"/>
                <a:ea typeface="Inter"/>
                <a:cs typeface="Inter"/>
                <a:sym typeface="Inter"/>
              </a:rPr>
              <a:t> Khớp nối sở thích với các khối ngành đào tạo chính xác.</a:t>
            </a:r>
            <a:endParaRPr/>
          </a:p>
        </p:txBody>
      </p:sp>
      <p:sp>
        <p:nvSpPr>
          <p:cNvPr id="173" name="Google Shape;173;p18"/>
          <p:cNvSpPr txBox="1"/>
          <p:nvPr/>
        </p:nvSpPr>
        <p:spPr>
          <a:xfrm>
            <a:off x="809625" y="571500"/>
            <a:ext cx="11351418"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FFFFF"/>
                </a:solidFill>
                <a:latin typeface="Urbanist"/>
                <a:ea typeface="Urbanist"/>
                <a:cs typeface="Urbanist"/>
                <a:sym typeface="Urbanist"/>
              </a:rPr>
              <a:t>Holland Code Classifier (ML)</a:t>
            </a:r>
            <a:endParaRPr/>
          </a:p>
        </p:txBody>
      </p:sp>
      <p:sp>
        <p:nvSpPr>
          <p:cNvPr id="174" name="Google Shape;174;p18"/>
          <p:cNvSpPr/>
          <p:nvPr/>
        </p:nvSpPr>
        <p:spPr>
          <a:xfrm>
            <a:off x="571500" y="571500"/>
            <a:ext cx="57150"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8"/>
        <p:cNvGrpSpPr/>
        <p:nvPr/>
      </p:nvGrpSpPr>
      <p:grpSpPr>
        <a:xfrm>
          <a:off x="0" y="0"/>
          <a:ext cx="0" cy="0"/>
          <a:chOff x="0" y="0"/>
          <a:chExt cx="0" cy="0"/>
        </a:xfrm>
      </p:grpSpPr>
      <p:pic>
        <p:nvPicPr>
          <p:cNvPr id="179" name="Google Shape;17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0" name="Google Shape;180;p19"/>
          <p:cNvSpPr/>
          <p:nvPr/>
        </p:nvSpPr>
        <p:spPr>
          <a:xfrm>
            <a:off x="571500" y="4133850"/>
            <a:ext cx="11049000" cy="1905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9"/>
          <p:cNvSpPr txBox="1"/>
          <p:nvPr/>
        </p:nvSpPr>
        <p:spPr>
          <a:xfrm>
            <a:off x="510733" y="3657600"/>
            <a:ext cx="2552193"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6B6D4"/>
                </a:solidFill>
                <a:latin typeface="Urbanist"/>
                <a:ea typeface="Urbanist"/>
                <a:cs typeface="Urbanist"/>
                <a:sym typeface="Urbanist"/>
              </a:rPr>
              <a:t>1. Retrieval</a:t>
            </a:r>
            <a:endParaRPr/>
          </a:p>
        </p:txBody>
      </p:sp>
      <p:sp>
        <p:nvSpPr>
          <p:cNvPr id="182" name="Google Shape;182;p19"/>
          <p:cNvSpPr txBox="1"/>
          <p:nvPr/>
        </p:nvSpPr>
        <p:spPr>
          <a:xfrm>
            <a:off x="571500" y="4124325"/>
            <a:ext cx="243066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Tìm kiếm tài liệu liên quan từ ChromaDB Knowledge Base.</a:t>
            </a:r>
            <a:endParaRPr/>
          </a:p>
        </p:txBody>
      </p:sp>
      <p:sp>
        <p:nvSpPr>
          <p:cNvPr id="183" name="Google Shape;183;p19"/>
          <p:cNvSpPr txBox="1"/>
          <p:nvPr/>
        </p:nvSpPr>
        <p:spPr>
          <a:xfrm>
            <a:off x="3383413" y="3657600"/>
            <a:ext cx="2552193"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6B6D4"/>
                </a:solidFill>
                <a:latin typeface="Urbanist"/>
                <a:ea typeface="Urbanist"/>
                <a:cs typeface="Urbanist"/>
                <a:sym typeface="Urbanist"/>
              </a:rPr>
              <a:t>2. Augmentation</a:t>
            </a:r>
            <a:endParaRPr/>
          </a:p>
        </p:txBody>
      </p:sp>
      <p:sp>
        <p:nvSpPr>
          <p:cNvPr id="184" name="Google Shape;184;p19"/>
          <p:cNvSpPr txBox="1"/>
          <p:nvPr/>
        </p:nvSpPr>
        <p:spPr>
          <a:xfrm>
            <a:off x="3444180" y="4124325"/>
            <a:ext cx="243066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Kết hợp ngữ cảnh thực tế vào câu truy vấn của người dùng.</a:t>
            </a:r>
            <a:endParaRPr/>
          </a:p>
        </p:txBody>
      </p:sp>
      <p:sp>
        <p:nvSpPr>
          <p:cNvPr id="185" name="Google Shape;185;p19"/>
          <p:cNvSpPr txBox="1"/>
          <p:nvPr/>
        </p:nvSpPr>
        <p:spPr>
          <a:xfrm>
            <a:off x="6256094" y="3657600"/>
            <a:ext cx="2552193"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6B6D4"/>
                </a:solidFill>
                <a:latin typeface="Urbanist"/>
                <a:ea typeface="Urbanist"/>
                <a:cs typeface="Urbanist"/>
                <a:sym typeface="Urbanist"/>
              </a:rPr>
              <a:t>3. Generation</a:t>
            </a:r>
            <a:endParaRPr/>
          </a:p>
        </p:txBody>
      </p:sp>
      <p:sp>
        <p:nvSpPr>
          <p:cNvPr id="186" name="Google Shape;186;p19"/>
          <p:cNvSpPr txBox="1"/>
          <p:nvPr/>
        </p:nvSpPr>
        <p:spPr>
          <a:xfrm>
            <a:off x="6316860" y="4124325"/>
            <a:ext cx="243066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Gemini LLM sinh lời tư vấn dựa trên dữ liệu đã chuẩn hóa.</a:t>
            </a:r>
            <a:endParaRPr/>
          </a:p>
        </p:txBody>
      </p:sp>
      <p:sp>
        <p:nvSpPr>
          <p:cNvPr id="187" name="Google Shape;187;p19"/>
          <p:cNvSpPr txBox="1"/>
          <p:nvPr/>
        </p:nvSpPr>
        <p:spPr>
          <a:xfrm>
            <a:off x="9128774" y="3657600"/>
            <a:ext cx="2552193"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6B6D4"/>
                </a:solidFill>
                <a:latin typeface="Urbanist"/>
                <a:ea typeface="Urbanist"/>
                <a:cs typeface="Urbanist"/>
                <a:sym typeface="Urbanist"/>
              </a:rPr>
              <a:t>4. Delivery</a:t>
            </a:r>
            <a:endParaRPr/>
          </a:p>
        </p:txBody>
      </p:sp>
      <p:sp>
        <p:nvSpPr>
          <p:cNvPr id="188" name="Google Shape;188;p19"/>
          <p:cNvSpPr txBox="1"/>
          <p:nvPr/>
        </p:nvSpPr>
        <p:spPr>
          <a:xfrm>
            <a:off x="9189541" y="4124325"/>
            <a:ext cx="243066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Trả về kết quả ở chế độ 'rag' với độ tin cậy tối đa.</a:t>
            </a:r>
            <a:endParaRPr/>
          </a:p>
        </p:txBody>
      </p:sp>
      <p:sp>
        <p:nvSpPr>
          <p:cNvPr id="189" name="Google Shape;189;p19"/>
          <p:cNvSpPr txBox="1"/>
          <p:nvPr/>
        </p:nvSpPr>
        <p:spPr>
          <a:xfrm>
            <a:off x="809625" y="571500"/>
            <a:ext cx="11351418"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FFFFF"/>
                </a:solidFill>
                <a:latin typeface="Urbanist"/>
                <a:ea typeface="Urbanist"/>
                <a:cs typeface="Urbanist"/>
                <a:sym typeface="Urbanist"/>
              </a:rPr>
              <a:t>RAG Pipeline: Quy trình Xử lý AI</a:t>
            </a:r>
            <a:endParaRPr/>
          </a:p>
        </p:txBody>
      </p:sp>
      <p:sp>
        <p:nvSpPr>
          <p:cNvPr id="190" name="Google Shape;190;p19"/>
          <p:cNvSpPr/>
          <p:nvPr/>
        </p:nvSpPr>
        <p:spPr>
          <a:xfrm>
            <a:off x="571500" y="571500"/>
            <a:ext cx="57150"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9"/>
          <p:cNvSpPr/>
          <p:nvPr/>
        </p:nvSpPr>
        <p:spPr>
          <a:xfrm>
            <a:off x="1657051" y="4062412"/>
            <a:ext cx="190500" cy="190500"/>
          </a:xfrm>
          <a:prstGeom prst="roundRect">
            <a:avLst>
              <a:gd name="adj" fmla="val 50000"/>
            </a:avLst>
          </a:prstGeom>
          <a:solidFill>
            <a:srgbClr val="06B6D4"/>
          </a:solidFill>
          <a:ln w="38100" cap="flat" cmpd="sng">
            <a:solidFill>
              <a:srgbClr val="0F17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2" name="Google Shape;192;p19"/>
          <p:cNvSpPr/>
          <p:nvPr/>
        </p:nvSpPr>
        <p:spPr>
          <a:xfrm>
            <a:off x="4564261" y="4038600"/>
            <a:ext cx="190500" cy="190500"/>
          </a:xfrm>
          <a:prstGeom prst="roundRect">
            <a:avLst>
              <a:gd name="adj" fmla="val 50000"/>
            </a:avLst>
          </a:prstGeom>
          <a:solidFill>
            <a:srgbClr val="06B6D4"/>
          </a:solidFill>
          <a:ln w="38100" cap="flat" cmpd="sng">
            <a:solidFill>
              <a:srgbClr val="0F17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19"/>
          <p:cNvSpPr/>
          <p:nvPr/>
        </p:nvSpPr>
        <p:spPr>
          <a:xfrm>
            <a:off x="7411212" y="4014106"/>
            <a:ext cx="190500" cy="190500"/>
          </a:xfrm>
          <a:prstGeom prst="roundRect">
            <a:avLst>
              <a:gd name="adj" fmla="val 50000"/>
            </a:avLst>
          </a:prstGeom>
          <a:solidFill>
            <a:srgbClr val="06B6D4"/>
          </a:solidFill>
          <a:ln w="38100" cap="flat" cmpd="sng">
            <a:solidFill>
              <a:srgbClr val="0F17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19"/>
          <p:cNvSpPr/>
          <p:nvPr/>
        </p:nvSpPr>
        <p:spPr>
          <a:xfrm>
            <a:off x="10309621" y="4100512"/>
            <a:ext cx="190500" cy="190500"/>
          </a:xfrm>
          <a:prstGeom prst="roundRect">
            <a:avLst>
              <a:gd name="adj" fmla="val 50000"/>
            </a:avLst>
          </a:prstGeom>
          <a:solidFill>
            <a:srgbClr val="06B6D4"/>
          </a:solidFill>
          <a:ln w="38100" cap="flat" cmpd="sng">
            <a:solidFill>
              <a:srgbClr val="0F17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8"/>
        <p:cNvGrpSpPr/>
        <p:nvPr/>
      </p:nvGrpSpPr>
      <p:grpSpPr>
        <a:xfrm>
          <a:off x="0" y="0"/>
          <a:ext cx="0" cy="0"/>
          <a:chOff x="0" y="0"/>
          <a:chExt cx="0" cy="0"/>
        </a:xfrm>
      </p:grpSpPr>
      <p:pic>
        <p:nvPicPr>
          <p:cNvPr id="199" name="Google Shape;199;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0" name="Google Shape;200;p20"/>
          <p:cNvSpPr txBox="1"/>
          <p:nvPr/>
        </p:nvSpPr>
        <p:spPr>
          <a:xfrm>
            <a:off x="571500" y="923925"/>
            <a:ext cx="5200650" cy="1009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FFFFF"/>
                </a:solidFill>
                <a:latin typeface="Urbanist"/>
                <a:ea typeface="Urbanist"/>
                <a:cs typeface="Urbanist"/>
                <a:sym typeface="Urbanist"/>
              </a:rPr>
              <a:t>Knowledge Base &amp; Security</a:t>
            </a:r>
            <a:endParaRPr/>
          </a:p>
        </p:txBody>
      </p:sp>
      <p:sp>
        <p:nvSpPr>
          <p:cNvPr id="201" name="Google Shape;201;p20"/>
          <p:cNvSpPr txBox="1"/>
          <p:nvPr/>
        </p:nvSpPr>
        <p:spPr>
          <a:xfrm>
            <a:off x="571500" y="2314575"/>
            <a:ext cx="520065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6B6D4"/>
                </a:solidFill>
                <a:latin typeface="Urbanist"/>
                <a:ea typeface="Urbanist"/>
                <a:cs typeface="Urbanist"/>
                <a:sym typeface="Urbanist"/>
              </a:rPr>
              <a:t>Nguồn Dữ liệu Chính thống</a:t>
            </a:r>
            <a:endParaRPr/>
          </a:p>
        </p:txBody>
      </p:sp>
      <p:sp>
        <p:nvSpPr>
          <p:cNvPr id="202" name="Google Shape;202;p20"/>
          <p:cNvSpPr txBox="1"/>
          <p:nvPr/>
        </p:nvSpPr>
        <p:spPr>
          <a:xfrm>
            <a:off x="571500" y="2781300"/>
            <a:ext cx="552450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Sử dụng các thông tư nhà nước (26/2020/TT-BLĐTBXH, 09/2022/TT-BGDĐT) và dữ liệu thị trường từ VietnamWorks, d</a:t>
            </a:r>
            <a:r>
              <a:rPr lang="en-US" sz="1500">
                <a:solidFill>
                  <a:srgbClr val="94A3B8"/>
                </a:solidFill>
                <a:latin typeface="Inter"/>
                <a:ea typeface="Inter"/>
                <a:cs typeface="Inter"/>
                <a:sym typeface="Inter"/>
              </a:rPr>
              <a:t>ữ liệu từ các tr</a:t>
            </a:r>
            <a:r>
              <a:rPr lang="vi-VN" sz="1500">
                <a:solidFill>
                  <a:srgbClr val="94A3B8"/>
                </a:solidFill>
                <a:latin typeface="Inter"/>
                <a:ea typeface="Inter"/>
                <a:cs typeface="Inter"/>
                <a:sym typeface="Inter"/>
              </a:rPr>
              <a:t>ư</a:t>
            </a:r>
            <a:r>
              <a:rPr lang="en-US" sz="1500">
                <a:solidFill>
                  <a:srgbClr val="94A3B8"/>
                </a:solidFill>
                <a:latin typeface="Inter"/>
                <a:ea typeface="Inter"/>
                <a:cs typeface="Inter"/>
                <a:sym typeface="Inter"/>
              </a:rPr>
              <a:t>ờng đại học/cao đẳng</a:t>
            </a:r>
            <a:r>
              <a:rPr lang="en-US" sz="1500" b="0" i="0" u="none" strike="noStrike" cap="none">
                <a:solidFill>
                  <a:srgbClr val="94A3B8"/>
                </a:solidFill>
                <a:latin typeface="Inter"/>
                <a:ea typeface="Inter"/>
                <a:cs typeface="Inter"/>
                <a:sym typeface="Inter"/>
              </a:rPr>
              <a:t>.</a:t>
            </a:r>
            <a:endParaRPr/>
          </a:p>
        </p:txBody>
      </p:sp>
      <p:sp>
        <p:nvSpPr>
          <p:cNvPr id="203" name="Google Shape;203;p20"/>
          <p:cNvSpPr txBox="1"/>
          <p:nvPr/>
        </p:nvSpPr>
        <p:spPr>
          <a:xfrm>
            <a:off x="571500" y="3981450"/>
            <a:ext cx="520065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6B6D4"/>
                </a:solidFill>
                <a:latin typeface="Urbanist"/>
                <a:ea typeface="Urbanist"/>
                <a:cs typeface="Urbanist"/>
                <a:sym typeface="Urbanist"/>
              </a:rPr>
              <a:t>Cơ chế Bảo mật AI</a:t>
            </a:r>
            <a:endParaRPr/>
          </a:p>
        </p:txBody>
      </p:sp>
      <p:sp>
        <p:nvSpPr>
          <p:cNvPr id="204" name="Google Shape;204;p20"/>
          <p:cNvSpPr txBox="1"/>
          <p:nvPr/>
        </p:nvSpPr>
        <p:spPr>
          <a:xfrm>
            <a:off x="1000125" y="4448175"/>
            <a:ext cx="45243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Anti-Bias:</a:t>
            </a:r>
            <a:r>
              <a:rPr lang="en-US" sz="1500" b="0" i="0" u="none" strike="noStrike" cap="none">
                <a:solidFill>
                  <a:srgbClr val="94A3B8"/>
                </a:solidFill>
                <a:latin typeface="Inter"/>
                <a:ea typeface="Inter"/>
                <a:cs typeface="Inter"/>
                <a:sym typeface="Inter"/>
              </a:rPr>
              <a:t> Loại bỏ định kiến giới tính, vùng miền.</a:t>
            </a:r>
            <a:endParaRPr/>
          </a:p>
        </p:txBody>
      </p:sp>
      <p:sp>
        <p:nvSpPr>
          <p:cNvPr id="205" name="Google Shape;205;p20"/>
          <p:cNvSpPr txBox="1"/>
          <p:nvPr/>
        </p:nvSpPr>
        <p:spPr>
          <a:xfrm>
            <a:off x="1000125" y="4943475"/>
            <a:ext cx="45243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Anti-Hallucination:</a:t>
            </a:r>
            <a:r>
              <a:rPr lang="en-US" sz="1500" b="0" i="0" u="none" strike="noStrike" cap="none">
                <a:solidFill>
                  <a:srgbClr val="94A3B8"/>
                </a:solidFill>
                <a:latin typeface="Inter"/>
                <a:ea typeface="Inter"/>
                <a:cs typeface="Inter"/>
                <a:sym typeface="Inter"/>
              </a:rPr>
              <a:t> Chỉ dùng dữ liệu gốc.</a:t>
            </a:r>
            <a:endParaRPr/>
          </a:p>
        </p:txBody>
      </p:sp>
      <p:sp>
        <p:nvSpPr>
          <p:cNvPr id="206" name="Google Shape;206;p20"/>
          <p:cNvSpPr txBox="1"/>
          <p:nvPr/>
        </p:nvSpPr>
        <p:spPr>
          <a:xfrm>
            <a:off x="1000125" y="5438775"/>
            <a:ext cx="45243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Inter"/>
                <a:ea typeface="Inter"/>
                <a:cs typeface="Inter"/>
                <a:sym typeface="Inter"/>
              </a:rPr>
              <a:t>Prompt Guard:</a:t>
            </a:r>
            <a:r>
              <a:rPr lang="en-US" sz="1500" b="0" i="0" u="none" strike="noStrike" cap="none">
                <a:solidFill>
                  <a:srgbClr val="94A3B8"/>
                </a:solidFill>
                <a:latin typeface="Inter"/>
                <a:ea typeface="Inter"/>
                <a:cs typeface="Inter"/>
                <a:sym typeface="Inter"/>
              </a:rPr>
              <a:t> Chống tấn công injection.</a:t>
            </a:r>
            <a:endParaRPr/>
          </a:p>
        </p:txBody>
      </p:sp>
      <p:pic>
        <p:nvPicPr>
          <p:cNvPr id="207" name="Google Shape;207;p20" descr="image.png"/>
          <p:cNvPicPr preferRelativeResize="0"/>
          <p:nvPr/>
        </p:nvPicPr>
        <p:blipFill rotWithShape="1">
          <a:blip r:embed="rId4">
            <a:alphaModFix/>
          </a:blip>
          <a:srcRect/>
          <a:stretch/>
        </p:blipFill>
        <p:spPr>
          <a:xfrm>
            <a:off x="571500" y="4486275"/>
            <a:ext cx="228600" cy="247650"/>
          </a:xfrm>
          <a:prstGeom prst="rect">
            <a:avLst/>
          </a:prstGeom>
          <a:noFill/>
          <a:ln>
            <a:noFill/>
          </a:ln>
        </p:spPr>
      </p:pic>
      <p:pic>
        <p:nvPicPr>
          <p:cNvPr id="208" name="Google Shape;208;p20" descr="image.png"/>
          <p:cNvPicPr preferRelativeResize="0"/>
          <p:nvPr/>
        </p:nvPicPr>
        <p:blipFill rotWithShape="1">
          <a:blip r:embed="rId5">
            <a:alphaModFix/>
          </a:blip>
          <a:srcRect/>
          <a:stretch/>
        </p:blipFill>
        <p:spPr>
          <a:xfrm>
            <a:off x="571500" y="4981575"/>
            <a:ext cx="228600" cy="247650"/>
          </a:xfrm>
          <a:prstGeom prst="rect">
            <a:avLst/>
          </a:prstGeom>
          <a:noFill/>
          <a:ln>
            <a:noFill/>
          </a:ln>
        </p:spPr>
      </p:pic>
      <p:pic>
        <p:nvPicPr>
          <p:cNvPr id="209" name="Google Shape;209;p20" descr="image.png"/>
          <p:cNvPicPr preferRelativeResize="0"/>
          <p:nvPr/>
        </p:nvPicPr>
        <p:blipFill rotWithShape="1">
          <a:blip r:embed="rId6">
            <a:alphaModFix/>
          </a:blip>
          <a:srcRect/>
          <a:stretch/>
        </p:blipFill>
        <p:spPr>
          <a:xfrm>
            <a:off x="571500" y="5476875"/>
            <a:ext cx="228600" cy="247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1047750" y="2181225"/>
            <a:ext cx="4857750" cy="325755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6286500" y="2181226"/>
            <a:ext cx="4857750" cy="3257550"/>
          </a:xfrm>
          <a:prstGeom prst="rect">
            <a:avLst/>
          </a:prstGeom>
          <a:noFill/>
          <a:ln>
            <a:noFill/>
          </a:ln>
        </p:spPr>
      </p:pic>
      <p:sp>
        <p:nvSpPr>
          <p:cNvPr id="88" name="Google Shape;88;p13"/>
          <p:cNvSpPr/>
          <p:nvPr/>
        </p:nvSpPr>
        <p:spPr>
          <a:xfrm>
            <a:off x="571500" y="6467475"/>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 name="Google Shape;89;p13"/>
          <p:cNvSpPr txBox="1"/>
          <p:nvPr/>
        </p:nvSpPr>
        <p:spPr>
          <a:xfrm>
            <a:off x="571500" y="381000"/>
            <a:ext cx="1160145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01. Độ Tin Cậy (Reliability)</a:t>
            </a:r>
            <a:endParaRPr/>
          </a:p>
        </p:txBody>
      </p:sp>
      <p:sp>
        <p:nvSpPr>
          <p:cNvPr id="90" name="Google Shape;90;p13"/>
          <p:cNvSpPr txBox="1"/>
          <p:nvPr/>
        </p:nvSpPr>
        <p:spPr>
          <a:xfrm>
            <a:off x="1047750" y="1533525"/>
            <a:ext cx="1009650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EA5E9"/>
                </a:solidFill>
                <a:latin typeface="Urbanist"/>
                <a:ea typeface="Urbanist"/>
                <a:cs typeface="Urbanist"/>
                <a:sym typeface="Urbanist"/>
              </a:rPr>
              <a:t>Đảm bảo nhất quán &amp; Triệt tiêu "Ảo tưởng"</a:t>
            </a:r>
            <a:endParaRPr/>
          </a:p>
        </p:txBody>
      </p:sp>
      <p:sp>
        <p:nvSpPr>
          <p:cNvPr id="92" name="Google Shape;92;p13"/>
          <p:cNvSpPr txBox="1"/>
          <p:nvPr/>
        </p:nvSpPr>
        <p:spPr>
          <a:xfrm>
            <a:off x="1657350" y="2419350"/>
            <a:ext cx="4210526"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B91C1C"/>
                </a:solidFill>
                <a:latin typeface="Urbanist"/>
                <a:ea typeface="Urbanist"/>
                <a:cs typeface="Urbanist"/>
                <a:sym typeface="Urbanist"/>
              </a:rPr>
              <a:t>Rủi ro</a:t>
            </a:r>
            <a:endParaRPr/>
          </a:p>
        </p:txBody>
      </p:sp>
      <p:sp>
        <p:nvSpPr>
          <p:cNvPr id="93" name="Google Shape;93;p13"/>
          <p:cNvSpPr txBox="1"/>
          <p:nvPr/>
        </p:nvSpPr>
        <p:spPr>
          <a:xfrm>
            <a:off x="1333500" y="2924175"/>
            <a:ext cx="4333875" cy="8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Urbanist"/>
                <a:ea typeface="Urbanist"/>
                <a:cs typeface="Urbanist"/>
                <a:sym typeface="Urbanist"/>
              </a:rPr>
              <a:t>LLM tự bịa ra ngành nghề không có thật, lộ trình học tập phi thực tế, dự báo sai lệch nhu cầu thị trường.</a:t>
            </a:r>
            <a:endParaRPr/>
          </a:p>
        </p:txBody>
      </p:sp>
      <p:sp>
        <p:nvSpPr>
          <p:cNvPr id="94" name="Google Shape;94;p13"/>
          <p:cNvSpPr txBox="1"/>
          <p:nvPr/>
        </p:nvSpPr>
        <p:spPr>
          <a:xfrm>
            <a:off x="6896100" y="2419350"/>
            <a:ext cx="4210526"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0369A1"/>
                </a:solidFill>
                <a:latin typeface="Urbanist"/>
                <a:ea typeface="Urbanist"/>
                <a:cs typeface="Urbanist"/>
                <a:sym typeface="Urbanist"/>
              </a:rPr>
              <a:t>Giải pháp kỹ thuật</a:t>
            </a:r>
            <a:endParaRPr/>
          </a:p>
        </p:txBody>
      </p:sp>
      <p:pic>
        <p:nvPicPr>
          <p:cNvPr id="95" name="Google Shape;95;p13" descr="image.png"/>
          <p:cNvPicPr preferRelativeResize="0"/>
          <p:nvPr/>
        </p:nvPicPr>
        <p:blipFill rotWithShape="1">
          <a:blip r:embed="rId6">
            <a:alphaModFix/>
          </a:blip>
          <a:srcRect/>
          <a:stretch/>
        </p:blipFill>
        <p:spPr>
          <a:xfrm>
            <a:off x="1333500" y="2443162"/>
            <a:ext cx="228600" cy="228600"/>
          </a:xfrm>
          <a:prstGeom prst="rect">
            <a:avLst/>
          </a:prstGeom>
          <a:noFill/>
          <a:ln>
            <a:noFill/>
          </a:ln>
        </p:spPr>
      </p:pic>
      <p:pic>
        <p:nvPicPr>
          <p:cNvPr id="96" name="Google Shape;96;p13" descr="image.png"/>
          <p:cNvPicPr preferRelativeResize="0"/>
          <p:nvPr/>
        </p:nvPicPr>
        <p:blipFill rotWithShape="1">
          <a:blip r:embed="rId7">
            <a:alphaModFix/>
          </a:blip>
          <a:srcRect/>
          <a:stretch/>
        </p:blipFill>
        <p:spPr>
          <a:xfrm>
            <a:off x="6572250" y="2443162"/>
            <a:ext cx="228600" cy="228600"/>
          </a:xfrm>
          <a:prstGeom prst="rect">
            <a:avLst/>
          </a:prstGeom>
          <a:noFill/>
          <a:ln>
            <a:noFill/>
          </a:ln>
        </p:spPr>
      </p:pic>
      <p:sp>
        <p:nvSpPr>
          <p:cNvPr id="97" name="Google Shape;97;p13"/>
          <p:cNvSpPr txBox="1"/>
          <p:nvPr/>
        </p:nvSpPr>
        <p:spPr>
          <a:xfrm>
            <a:off x="6724650" y="2924175"/>
            <a:ext cx="381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a:t>
            </a:r>
            <a:endParaRPr/>
          </a:p>
        </p:txBody>
      </p:sp>
      <p:sp>
        <p:nvSpPr>
          <p:cNvPr id="98" name="Google Shape;98;p13"/>
          <p:cNvSpPr txBox="1"/>
          <p:nvPr/>
        </p:nvSpPr>
        <p:spPr>
          <a:xfrm>
            <a:off x="6762750" y="2924175"/>
            <a:ext cx="4143375" cy="969496"/>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334155"/>
                </a:solidFill>
                <a:latin typeface="Urbanist"/>
                <a:ea typeface="Urbanist"/>
                <a:cs typeface="Urbanist"/>
                <a:sym typeface="Urbanist"/>
              </a:rPr>
              <a:t>RAG + Vector DB:</a:t>
            </a:r>
            <a:r>
              <a:rPr lang="en-US" sz="1500" b="0" i="0" u="none" strike="noStrike" cap="none">
                <a:solidFill>
                  <a:srgbClr val="334155"/>
                </a:solidFill>
                <a:latin typeface="Urbanist"/>
                <a:ea typeface="Urbanist"/>
                <a:cs typeface="Urbanist"/>
                <a:sym typeface="Urbanist"/>
              </a:rPr>
              <a:t> Kết nối nguồn chuẩn (Bộ LĐ-TB&amp;XH, Bộ GDDT, VietnamWorks, và d</a:t>
            </a:r>
            <a:r>
              <a:rPr lang="en-US" sz="1500">
                <a:solidFill>
                  <a:srgbClr val="334155"/>
                </a:solidFill>
                <a:latin typeface="Urbanist"/>
                <a:ea typeface="Urbanist"/>
                <a:cs typeface="Urbanist"/>
                <a:sym typeface="Urbanist"/>
              </a:rPr>
              <a:t>ữ liệu từ các tr</a:t>
            </a:r>
            <a:r>
              <a:rPr lang="vi-VN" sz="1500">
                <a:solidFill>
                  <a:srgbClr val="334155"/>
                </a:solidFill>
                <a:latin typeface="Urbanist"/>
                <a:ea typeface="Urbanist"/>
                <a:cs typeface="Urbanist"/>
                <a:sym typeface="Urbanist"/>
              </a:rPr>
              <a:t>ư</a:t>
            </a:r>
            <a:r>
              <a:rPr lang="en-US" sz="1500">
                <a:solidFill>
                  <a:srgbClr val="334155"/>
                </a:solidFill>
                <a:latin typeface="Urbanist"/>
                <a:ea typeface="Urbanist"/>
                <a:cs typeface="Urbanist"/>
                <a:sym typeface="Urbanist"/>
              </a:rPr>
              <a:t>ờng cao đẳng/đại học</a:t>
            </a:r>
            <a:r>
              <a:rPr lang="en-US" sz="1500" b="0" i="0" u="none" strike="noStrike" cap="none">
                <a:solidFill>
                  <a:srgbClr val="334155"/>
                </a:solidFill>
                <a:latin typeface="Urbanist"/>
                <a:ea typeface="Urbanist"/>
                <a:cs typeface="Urbanist"/>
                <a:sym typeface="Urbanist"/>
              </a:rPr>
              <a:t>).</a:t>
            </a:r>
            <a:endParaRPr/>
          </a:p>
        </p:txBody>
      </p:sp>
      <p:sp>
        <p:nvSpPr>
          <p:cNvPr id="99" name="Google Shape;99;p13"/>
          <p:cNvSpPr txBox="1"/>
          <p:nvPr/>
        </p:nvSpPr>
        <p:spPr>
          <a:xfrm>
            <a:off x="6724650" y="3552825"/>
            <a:ext cx="381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a:t>
            </a:r>
            <a:endParaRPr/>
          </a:p>
        </p:txBody>
      </p:sp>
      <p:sp>
        <p:nvSpPr>
          <p:cNvPr id="100" name="Google Shape;100;p13"/>
          <p:cNvSpPr txBox="1"/>
          <p:nvPr/>
        </p:nvSpPr>
        <p:spPr>
          <a:xfrm>
            <a:off x="6800850" y="4181475"/>
            <a:ext cx="4143375" cy="533400"/>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334155"/>
                </a:solidFill>
                <a:latin typeface="Urbanist"/>
                <a:ea typeface="Urbanist"/>
                <a:cs typeface="Urbanist"/>
                <a:sym typeface="Urbanist"/>
              </a:rPr>
              <a:t>Temperature ≈ 0:</a:t>
            </a:r>
            <a:r>
              <a:rPr lang="en-US" sz="1500" b="0" i="0" u="none" strike="noStrike" cap="none">
                <a:solidFill>
                  <a:srgbClr val="334155"/>
                </a:solidFill>
                <a:latin typeface="Urbanist"/>
                <a:ea typeface="Urbanist"/>
                <a:cs typeface="Urbanist"/>
                <a:sym typeface="Urbanist"/>
              </a:rPr>
              <a:t> Đảm bảo câu trả lời chính xác, nhất quán.</a:t>
            </a:r>
            <a:endParaRPr/>
          </a:p>
        </p:txBody>
      </p:sp>
      <p:sp>
        <p:nvSpPr>
          <p:cNvPr id="101" name="Google Shape;101;p13"/>
          <p:cNvSpPr txBox="1"/>
          <p:nvPr/>
        </p:nvSpPr>
        <p:spPr>
          <a:xfrm>
            <a:off x="6724650" y="4181475"/>
            <a:ext cx="381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8" name="Google Shape;108;p14" descr="image.png"/>
          <p:cNvPicPr preferRelativeResize="0"/>
          <p:nvPr/>
        </p:nvPicPr>
        <p:blipFill rotWithShape="1">
          <a:blip r:embed="rId4">
            <a:alphaModFix/>
          </a:blip>
          <a:srcRect/>
          <a:stretch/>
        </p:blipFill>
        <p:spPr>
          <a:xfrm>
            <a:off x="1047749" y="2181225"/>
            <a:ext cx="4429685" cy="3257550"/>
          </a:xfrm>
          <a:prstGeom prst="rect">
            <a:avLst/>
          </a:prstGeom>
          <a:noFill/>
          <a:ln>
            <a:noFill/>
          </a:ln>
        </p:spPr>
      </p:pic>
      <p:pic>
        <p:nvPicPr>
          <p:cNvPr id="109" name="Google Shape;109;p14" descr="image.png"/>
          <p:cNvPicPr preferRelativeResize="0"/>
          <p:nvPr/>
        </p:nvPicPr>
        <p:blipFill rotWithShape="1">
          <a:blip r:embed="rId5">
            <a:alphaModFix/>
          </a:blip>
          <a:srcRect/>
          <a:stretch/>
        </p:blipFill>
        <p:spPr>
          <a:xfrm>
            <a:off x="6714568" y="2181225"/>
            <a:ext cx="5287492" cy="3219450"/>
          </a:xfrm>
          <a:prstGeom prst="rect">
            <a:avLst/>
          </a:prstGeom>
          <a:noFill/>
          <a:ln>
            <a:noFill/>
          </a:ln>
        </p:spPr>
      </p:pic>
      <p:sp>
        <p:nvSpPr>
          <p:cNvPr id="111" name="Google Shape;111;p14"/>
          <p:cNvSpPr/>
          <p:nvPr/>
        </p:nvSpPr>
        <p:spPr>
          <a:xfrm>
            <a:off x="571500" y="6467475"/>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 name="Google Shape;112;p14"/>
          <p:cNvSpPr txBox="1"/>
          <p:nvPr/>
        </p:nvSpPr>
        <p:spPr>
          <a:xfrm>
            <a:off x="571500" y="381000"/>
            <a:ext cx="1160145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02. Thiên vị (Bias/Fairness)</a:t>
            </a:r>
            <a:endParaRPr/>
          </a:p>
        </p:txBody>
      </p:sp>
      <p:sp>
        <p:nvSpPr>
          <p:cNvPr id="113" name="Google Shape;113;p14"/>
          <p:cNvSpPr txBox="1"/>
          <p:nvPr/>
        </p:nvSpPr>
        <p:spPr>
          <a:xfrm>
            <a:off x="1047750" y="1533525"/>
            <a:ext cx="1009650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EA5E9"/>
                </a:solidFill>
                <a:latin typeface="Urbanist"/>
                <a:ea typeface="Urbanist"/>
                <a:cs typeface="Urbanist"/>
                <a:sym typeface="Urbanist"/>
              </a:rPr>
              <a:t>Công bằng cơ hội - Không phân biệt đối xử</a:t>
            </a:r>
            <a:endParaRPr/>
          </a:p>
        </p:txBody>
      </p:sp>
      <p:sp>
        <p:nvSpPr>
          <p:cNvPr id="115" name="Google Shape;115;p14"/>
          <p:cNvSpPr txBox="1"/>
          <p:nvPr/>
        </p:nvSpPr>
        <p:spPr>
          <a:xfrm>
            <a:off x="1333500" y="2419350"/>
            <a:ext cx="4248946"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B91C1C"/>
                </a:solidFill>
                <a:latin typeface="Urbanist"/>
                <a:ea typeface="Urbanist"/>
                <a:cs typeface="Urbanist"/>
                <a:sym typeface="Urbanist"/>
              </a:rPr>
              <a:t>Rủi ro Định kiến</a:t>
            </a:r>
            <a:endParaRPr/>
          </a:p>
        </p:txBody>
      </p:sp>
      <p:sp>
        <p:nvSpPr>
          <p:cNvPr id="116" name="Google Shape;116;p14"/>
          <p:cNvSpPr txBox="1"/>
          <p:nvPr/>
        </p:nvSpPr>
        <p:spPr>
          <a:xfrm>
            <a:off x="1333500" y="2924175"/>
            <a:ext cx="4046615"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Urbanist"/>
                <a:ea typeface="Urbanist"/>
                <a:cs typeface="Urbanist"/>
                <a:sym typeface="Urbanist"/>
              </a:rPr>
              <a:t>Tự động hướng Nam vào STEM(Khoa học, công nghệ, kỹ thật, Toán học), Nữ vào Sư phạm. Chỉ gợi ý trường phí cao, bỏ qua các lựa chọn vùng xa.</a:t>
            </a:r>
            <a:endParaRPr/>
          </a:p>
        </p:txBody>
      </p:sp>
      <p:sp>
        <p:nvSpPr>
          <p:cNvPr id="117" name="Google Shape;117;p14"/>
          <p:cNvSpPr txBox="1"/>
          <p:nvPr/>
        </p:nvSpPr>
        <p:spPr>
          <a:xfrm>
            <a:off x="6968884" y="2419350"/>
            <a:ext cx="5071752"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0369A1"/>
                </a:solidFill>
                <a:latin typeface="Urbanist"/>
                <a:ea typeface="Urbanist"/>
                <a:cs typeface="Urbanist"/>
                <a:sym typeface="Urbanist"/>
              </a:rPr>
              <a:t>Giải pháp kỹ thuật: De-biasing Prompting</a:t>
            </a:r>
            <a:endParaRPr/>
          </a:p>
        </p:txBody>
      </p:sp>
      <p:sp>
        <p:nvSpPr>
          <p:cNvPr id="118" name="Google Shape;118;p14"/>
          <p:cNvSpPr txBox="1"/>
          <p:nvPr/>
        </p:nvSpPr>
        <p:spPr>
          <a:xfrm>
            <a:off x="6933695" y="2924175"/>
            <a:ext cx="4830240"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Urbanist"/>
                <a:ea typeface="Urbanist"/>
                <a:cs typeface="Urbanist"/>
                <a:sym typeface="Urbanist"/>
              </a:rPr>
              <a:t>Sử dụng </a:t>
            </a:r>
            <a:r>
              <a:rPr lang="en-US" sz="1500" b="1" i="0" u="none" strike="noStrike" cap="none">
                <a:solidFill>
                  <a:srgbClr val="334155"/>
                </a:solidFill>
                <a:latin typeface="Urbanist"/>
                <a:ea typeface="Urbanist"/>
                <a:cs typeface="Urbanist"/>
                <a:sym typeface="Urbanist"/>
              </a:rPr>
              <a:t>System Prompt</a:t>
            </a:r>
            <a:r>
              <a:rPr lang="en-US" sz="1500" b="0" i="0" u="none" strike="noStrike" cap="none">
                <a:solidFill>
                  <a:srgbClr val="334155"/>
                </a:solidFill>
                <a:latin typeface="Urbanist"/>
                <a:ea typeface="Urbanist"/>
                <a:cs typeface="Urbanist"/>
                <a:sym typeface="Urbanist"/>
              </a:rPr>
              <a:t> nghiêm ngặt: </a:t>
            </a:r>
            <a:r>
              <a:rPr lang="en-US" sz="1500" b="0" i="1" u="none" strike="noStrike" cap="none">
                <a:solidFill>
                  <a:srgbClr val="334155"/>
                </a:solidFill>
                <a:latin typeface="Urbanist"/>
                <a:ea typeface="Urbanist"/>
                <a:cs typeface="Urbanist"/>
                <a:sym typeface="Urbanist"/>
              </a:rPr>
              <a:t>"Bạn là chuyên gia trung lập. Tuyệt đối không gợi ý dựa trên định kiến giới tính, vùng miền."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4" name="Google Shape;124;p15" descr="image.png"/>
          <p:cNvPicPr preferRelativeResize="0"/>
          <p:nvPr/>
        </p:nvPicPr>
        <p:blipFill rotWithShape="1">
          <a:blip r:embed="rId4">
            <a:alphaModFix/>
          </a:blip>
          <a:srcRect/>
          <a:stretch/>
        </p:blipFill>
        <p:spPr>
          <a:xfrm>
            <a:off x="4769224" y="2175902"/>
            <a:ext cx="3238500" cy="3819525"/>
          </a:xfrm>
          <a:prstGeom prst="rect">
            <a:avLst/>
          </a:prstGeom>
          <a:noFill/>
          <a:ln>
            <a:noFill/>
          </a:ln>
        </p:spPr>
      </p:pic>
      <p:pic>
        <p:nvPicPr>
          <p:cNvPr id="125" name="Google Shape;125;p15" descr="image.png"/>
          <p:cNvPicPr preferRelativeResize="0"/>
          <p:nvPr/>
        </p:nvPicPr>
        <p:blipFill rotWithShape="1">
          <a:blip r:embed="rId4">
            <a:alphaModFix/>
          </a:blip>
          <a:srcRect/>
          <a:stretch/>
        </p:blipFill>
        <p:spPr>
          <a:xfrm>
            <a:off x="8382000" y="2175902"/>
            <a:ext cx="3238500" cy="3819525"/>
          </a:xfrm>
          <a:prstGeom prst="rect">
            <a:avLst/>
          </a:prstGeom>
          <a:noFill/>
          <a:ln>
            <a:noFill/>
          </a:ln>
        </p:spPr>
      </p:pic>
      <p:sp>
        <p:nvSpPr>
          <p:cNvPr id="128" name="Google Shape;128;p15"/>
          <p:cNvSpPr/>
          <p:nvPr/>
        </p:nvSpPr>
        <p:spPr>
          <a:xfrm>
            <a:off x="571500" y="6467475"/>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9" name="Google Shape;129;p15"/>
          <p:cNvSpPr txBox="1"/>
          <p:nvPr/>
        </p:nvSpPr>
        <p:spPr>
          <a:xfrm>
            <a:off x="571500" y="381000"/>
            <a:ext cx="1160145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03. Chống chịu &amp; Bảo mật (Robustness)</a:t>
            </a:r>
            <a:endParaRPr/>
          </a:p>
        </p:txBody>
      </p:sp>
      <p:sp>
        <p:nvSpPr>
          <p:cNvPr id="130" name="Google Shape;130;p15"/>
          <p:cNvSpPr txBox="1"/>
          <p:nvPr/>
        </p:nvSpPr>
        <p:spPr>
          <a:xfrm>
            <a:off x="1047750" y="1533525"/>
            <a:ext cx="1009650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EA5E9"/>
                </a:solidFill>
                <a:latin typeface="Urbanist"/>
                <a:ea typeface="Urbanist"/>
                <a:cs typeface="Urbanist"/>
                <a:sym typeface="Urbanist"/>
              </a:rPr>
              <a:t>Vận hành ổn định trước tấn công cố ý</a:t>
            </a:r>
            <a:endParaRPr/>
          </a:p>
        </p:txBody>
      </p:sp>
      <p:pic>
        <p:nvPicPr>
          <p:cNvPr id="131" name="Google Shape;131;p15" descr="image.png"/>
          <p:cNvPicPr preferRelativeResize="0"/>
          <p:nvPr/>
        </p:nvPicPr>
        <p:blipFill rotWithShape="1">
          <a:blip r:embed="rId5">
            <a:alphaModFix/>
          </a:blip>
          <a:srcRect/>
          <a:stretch/>
        </p:blipFill>
        <p:spPr>
          <a:xfrm>
            <a:off x="5064499" y="2471177"/>
            <a:ext cx="2647950" cy="381000"/>
          </a:xfrm>
          <a:prstGeom prst="rect">
            <a:avLst/>
          </a:prstGeom>
          <a:noFill/>
          <a:ln>
            <a:noFill/>
          </a:ln>
        </p:spPr>
      </p:pic>
      <p:sp>
        <p:nvSpPr>
          <p:cNvPr id="132" name="Google Shape;132;p15"/>
          <p:cNvSpPr txBox="1"/>
          <p:nvPr/>
        </p:nvSpPr>
        <p:spPr>
          <a:xfrm>
            <a:off x="5064499" y="2995052"/>
            <a:ext cx="2780347"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0F172A"/>
                </a:solidFill>
                <a:latin typeface="Urbanist"/>
                <a:ea typeface="Urbanist"/>
                <a:cs typeface="Urbanist"/>
                <a:sym typeface="Urbanist"/>
              </a:rPr>
              <a:t>Guardrails</a:t>
            </a:r>
            <a:endParaRPr/>
          </a:p>
        </p:txBody>
      </p:sp>
      <p:sp>
        <p:nvSpPr>
          <p:cNvPr id="133" name="Google Shape;133;p15"/>
          <p:cNvSpPr txBox="1"/>
          <p:nvPr/>
        </p:nvSpPr>
        <p:spPr>
          <a:xfrm>
            <a:off x="5064499" y="3833252"/>
            <a:ext cx="2647950" cy="8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Urbanist"/>
                <a:ea typeface="Urbanist"/>
                <a:cs typeface="Urbanist"/>
                <a:sym typeface="Urbanist"/>
              </a:rPr>
              <a:t>Lớp lọc dữ liệu đầu vào giúp chặn đứng các cuộc tấn công </a:t>
            </a:r>
            <a:r>
              <a:rPr lang="en-US" sz="1500" b="1" i="0" u="none" strike="noStrike" cap="none">
                <a:solidFill>
                  <a:srgbClr val="334155"/>
                </a:solidFill>
                <a:latin typeface="Urbanist"/>
                <a:ea typeface="Urbanist"/>
                <a:cs typeface="Urbanist"/>
                <a:sym typeface="Urbanist"/>
              </a:rPr>
              <a:t>Prompt Injection</a:t>
            </a:r>
            <a:r>
              <a:rPr lang="en-US" sz="1500" b="0" i="0" u="none" strike="noStrike" cap="none">
                <a:solidFill>
                  <a:srgbClr val="334155"/>
                </a:solidFill>
                <a:latin typeface="Urbanist"/>
                <a:ea typeface="Urbanist"/>
                <a:cs typeface="Urbanist"/>
                <a:sym typeface="Urbanist"/>
              </a:rPr>
              <a:t>.</a:t>
            </a:r>
            <a:endParaRPr/>
          </a:p>
        </p:txBody>
      </p:sp>
      <p:pic>
        <p:nvPicPr>
          <p:cNvPr id="134" name="Google Shape;134;p15" descr="image.png"/>
          <p:cNvPicPr preferRelativeResize="0"/>
          <p:nvPr/>
        </p:nvPicPr>
        <p:blipFill rotWithShape="1">
          <a:blip r:embed="rId6">
            <a:alphaModFix/>
          </a:blip>
          <a:srcRect/>
          <a:stretch/>
        </p:blipFill>
        <p:spPr>
          <a:xfrm>
            <a:off x="8677275" y="2471177"/>
            <a:ext cx="2647950" cy="381000"/>
          </a:xfrm>
          <a:prstGeom prst="rect">
            <a:avLst/>
          </a:prstGeom>
          <a:noFill/>
          <a:ln>
            <a:noFill/>
          </a:ln>
        </p:spPr>
      </p:pic>
      <p:sp>
        <p:nvSpPr>
          <p:cNvPr id="135" name="Google Shape;135;p15"/>
          <p:cNvSpPr txBox="1"/>
          <p:nvPr/>
        </p:nvSpPr>
        <p:spPr>
          <a:xfrm>
            <a:off x="8677275" y="2995052"/>
            <a:ext cx="2780347"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0F172A"/>
                </a:solidFill>
                <a:latin typeface="Urbanist"/>
                <a:ea typeface="Urbanist"/>
                <a:cs typeface="Urbanist"/>
                <a:sym typeface="Urbanist"/>
              </a:rPr>
              <a:t>Input Validation</a:t>
            </a:r>
            <a:endParaRPr/>
          </a:p>
        </p:txBody>
      </p:sp>
      <p:sp>
        <p:nvSpPr>
          <p:cNvPr id="136" name="Google Shape;136;p15"/>
          <p:cNvSpPr txBox="1"/>
          <p:nvPr/>
        </p:nvSpPr>
        <p:spPr>
          <a:xfrm>
            <a:off x="8677275" y="3833252"/>
            <a:ext cx="2647950" cy="8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Urbanist"/>
                <a:ea typeface="Urbanist"/>
                <a:cs typeface="Urbanist"/>
                <a:sym typeface="Urbanist"/>
              </a:rPr>
              <a:t>Thiết kế Schema nghiêm ngặt (Ví dụ: Điểm số 0-10) để loại bỏ dữ liệu nhiễu/sai lệch.</a:t>
            </a:r>
            <a:endParaRPr/>
          </a:p>
        </p:txBody>
      </p:sp>
      <p:pic>
        <p:nvPicPr>
          <p:cNvPr id="17" name="Google Shape;85;p13" descr="image.png">
            <a:extLst>
              <a:ext uri="{FF2B5EF4-FFF2-40B4-BE49-F238E27FC236}">
                <a16:creationId xmlns:a16="http://schemas.microsoft.com/office/drawing/2014/main" id="{8FA26BF3-9377-4F7F-B4E7-4819F660A6C4}"/>
              </a:ext>
            </a:extLst>
          </p:cNvPr>
          <p:cNvPicPr preferRelativeResize="0"/>
          <p:nvPr/>
        </p:nvPicPr>
        <p:blipFill rotWithShape="1">
          <a:blip r:embed="rId7">
            <a:alphaModFix/>
          </a:blip>
          <a:srcRect/>
          <a:stretch/>
        </p:blipFill>
        <p:spPr>
          <a:xfrm>
            <a:off x="1047750" y="2181225"/>
            <a:ext cx="3248025" cy="3814202"/>
          </a:xfrm>
          <a:prstGeom prst="rect">
            <a:avLst/>
          </a:prstGeom>
          <a:noFill/>
          <a:ln>
            <a:noFill/>
          </a:ln>
        </p:spPr>
      </p:pic>
      <p:sp>
        <p:nvSpPr>
          <p:cNvPr id="18" name="Google Shape;92;p13">
            <a:extLst>
              <a:ext uri="{FF2B5EF4-FFF2-40B4-BE49-F238E27FC236}">
                <a16:creationId xmlns:a16="http://schemas.microsoft.com/office/drawing/2014/main" id="{1769E5F3-B313-4F7D-A374-518F6B7A7DC4}"/>
              </a:ext>
            </a:extLst>
          </p:cNvPr>
          <p:cNvSpPr txBox="1"/>
          <p:nvPr/>
        </p:nvSpPr>
        <p:spPr>
          <a:xfrm>
            <a:off x="1657350" y="2419350"/>
            <a:ext cx="2502274"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B91C1C"/>
                </a:solidFill>
                <a:latin typeface="Urbanist"/>
                <a:ea typeface="Urbanist"/>
                <a:cs typeface="Urbanist"/>
                <a:sym typeface="Urbanist"/>
              </a:rPr>
              <a:t>Rủi ro</a:t>
            </a:r>
            <a:endParaRPr/>
          </a:p>
        </p:txBody>
      </p:sp>
      <p:sp>
        <p:nvSpPr>
          <p:cNvPr id="19" name="Google Shape;93;p13">
            <a:extLst>
              <a:ext uri="{FF2B5EF4-FFF2-40B4-BE49-F238E27FC236}">
                <a16:creationId xmlns:a16="http://schemas.microsoft.com/office/drawing/2014/main" id="{992A19A4-9B47-4933-9C73-86AD24BDFDBF}"/>
              </a:ext>
            </a:extLst>
          </p:cNvPr>
          <p:cNvSpPr txBox="1"/>
          <p:nvPr/>
        </p:nvSpPr>
        <p:spPr>
          <a:xfrm>
            <a:off x="1333500" y="2924175"/>
            <a:ext cx="2745441" cy="2262158"/>
          </a:xfrm>
          <a:prstGeom prst="rect">
            <a:avLst/>
          </a:prstGeom>
          <a:noFill/>
          <a:ln>
            <a:noFill/>
          </a:ln>
        </p:spPr>
        <p:txBody>
          <a:bodyPr spcFirstLastPara="1" wrap="square" lIns="0" tIns="0" rIns="0" bIns="0" anchor="t" anchorCtr="0">
            <a:spAutoFit/>
          </a:bodyPr>
          <a:lstStyle/>
          <a:p>
            <a:pPr lvl="0">
              <a:lnSpc>
                <a:spcPct val="140000"/>
              </a:lnSpc>
            </a:pPr>
            <a:r>
              <a:rPr lang="vi-VN" sz="1500">
                <a:solidFill>
                  <a:srgbClr val="334155"/>
                </a:solidFill>
                <a:latin typeface="Urbanist"/>
                <a:ea typeface="Urbanist"/>
                <a:cs typeface="Urbanist"/>
                <a:sym typeface="Urbanist"/>
              </a:rPr>
              <a:t>Học sinh cố tình nhập dữ liệu sai lệch (ví dụ: điểm số âm, sở thích mâu thuẫn) để làm hệ thống bị lỗi, hoặc sử dụng Prompt Injection để ép AI trả lời các nội dung độc hại, không liên quan đến hướng nghiệp.</a:t>
            </a:r>
            <a:endParaRPr/>
          </a:p>
        </p:txBody>
      </p:sp>
      <p:pic>
        <p:nvPicPr>
          <p:cNvPr id="20" name="Google Shape;95;p13" descr="image.png">
            <a:extLst>
              <a:ext uri="{FF2B5EF4-FFF2-40B4-BE49-F238E27FC236}">
                <a16:creationId xmlns:a16="http://schemas.microsoft.com/office/drawing/2014/main" id="{8384A726-E13C-4F1C-95AB-BE910A12E3AE}"/>
              </a:ext>
            </a:extLst>
          </p:cNvPr>
          <p:cNvPicPr preferRelativeResize="0"/>
          <p:nvPr/>
        </p:nvPicPr>
        <p:blipFill rotWithShape="1">
          <a:blip r:embed="rId8">
            <a:alphaModFix/>
          </a:blip>
          <a:srcRect/>
          <a:stretch/>
        </p:blipFill>
        <p:spPr>
          <a:xfrm>
            <a:off x="1333500" y="2443162"/>
            <a:ext cx="228600" cy="228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4" name="Google Shape;144;p16" descr="image.png"/>
          <p:cNvPicPr preferRelativeResize="0"/>
          <p:nvPr/>
        </p:nvPicPr>
        <p:blipFill rotWithShape="1">
          <a:blip r:embed="rId4">
            <a:alphaModFix/>
          </a:blip>
          <a:srcRect/>
          <a:stretch/>
        </p:blipFill>
        <p:spPr>
          <a:xfrm>
            <a:off x="6398559" y="1462087"/>
            <a:ext cx="5623112" cy="4257676"/>
          </a:xfrm>
          <a:prstGeom prst="rect">
            <a:avLst/>
          </a:prstGeom>
          <a:noFill/>
          <a:ln>
            <a:noFill/>
          </a:ln>
        </p:spPr>
      </p:pic>
      <p:sp>
        <p:nvSpPr>
          <p:cNvPr id="145" name="Google Shape;145;p16"/>
          <p:cNvSpPr/>
          <p:nvPr/>
        </p:nvSpPr>
        <p:spPr>
          <a:xfrm>
            <a:off x="571500" y="6467475"/>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6" name="Google Shape;146;p16"/>
          <p:cNvSpPr txBox="1"/>
          <p:nvPr/>
        </p:nvSpPr>
        <p:spPr>
          <a:xfrm>
            <a:off x="571500" y="381000"/>
            <a:ext cx="1160145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04. Tác động xã hội (Social Impact)</a:t>
            </a:r>
            <a:endParaRPr/>
          </a:p>
        </p:txBody>
      </p:sp>
      <p:sp>
        <p:nvSpPr>
          <p:cNvPr id="148" name="Google Shape;148;p16"/>
          <p:cNvSpPr txBox="1"/>
          <p:nvPr/>
        </p:nvSpPr>
        <p:spPr>
          <a:xfrm>
            <a:off x="6874809" y="1699438"/>
            <a:ext cx="45720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EA5E9"/>
                </a:solidFill>
                <a:latin typeface="Urbanist"/>
                <a:ea typeface="Urbanist"/>
                <a:cs typeface="Urbanist"/>
                <a:sym typeface="Urbanist"/>
              </a:rPr>
              <a:t>Cá nhân hóa theo điều kiện thực tế</a:t>
            </a:r>
            <a:endParaRPr sz="1800"/>
          </a:p>
        </p:txBody>
      </p:sp>
      <p:sp>
        <p:nvSpPr>
          <p:cNvPr id="150" name="Google Shape;150;p16"/>
          <p:cNvSpPr txBox="1"/>
          <p:nvPr/>
        </p:nvSpPr>
        <p:spPr>
          <a:xfrm>
            <a:off x="1200150" y="3476625"/>
            <a:ext cx="381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a:t>
            </a:r>
            <a:endParaRPr/>
          </a:p>
        </p:txBody>
      </p:sp>
      <p:sp>
        <p:nvSpPr>
          <p:cNvPr id="151" name="Google Shape;151;p16"/>
          <p:cNvSpPr txBox="1"/>
          <p:nvPr/>
        </p:nvSpPr>
        <p:spPr>
          <a:xfrm>
            <a:off x="6874809" y="2190468"/>
            <a:ext cx="4381500" cy="533400"/>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Urbanist"/>
                <a:ea typeface="Urbanist"/>
                <a:cs typeface="Urbanist"/>
                <a:sym typeface="Urbanist"/>
              </a:rPr>
              <a:t>Bộ lọc "Mức học phí kỳ vọng" &amp; "Lộ trình vừa học vừa làm".</a:t>
            </a:r>
            <a:endParaRPr/>
          </a:p>
        </p:txBody>
      </p:sp>
      <p:sp>
        <p:nvSpPr>
          <p:cNvPr id="152" name="Google Shape;152;p16"/>
          <p:cNvSpPr txBox="1"/>
          <p:nvPr/>
        </p:nvSpPr>
        <p:spPr>
          <a:xfrm>
            <a:off x="1200150" y="4105275"/>
            <a:ext cx="381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a:t>
            </a:r>
            <a:endParaRPr/>
          </a:p>
        </p:txBody>
      </p:sp>
      <p:sp>
        <p:nvSpPr>
          <p:cNvPr id="153" name="Google Shape;153;p16"/>
          <p:cNvSpPr txBox="1"/>
          <p:nvPr/>
        </p:nvSpPr>
        <p:spPr>
          <a:xfrm>
            <a:off x="6874809" y="2831024"/>
            <a:ext cx="4381500" cy="266700"/>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Urbanist"/>
                <a:ea typeface="Urbanist"/>
                <a:cs typeface="Urbanist"/>
                <a:sym typeface="Urbanist"/>
              </a:rPr>
              <a:t>Ưu tiên học bổng cho HS vùng sâu, vùng xa.</a:t>
            </a:r>
            <a:endParaRPr/>
          </a:p>
        </p:txBody>
      </p:sp>
      <p:sp>
        <p:nvSpPr>
          <p:cNvPr id="154" name="Google Shape;154;p16"/>
          <p:cNvSpPr txBox="1"/>
          <p:nvPr/>
        </p:nvSpPr>
        <p:spPr>
          <a:xfrm>
            <a:off x="1200150" y="4467225"/>
            <a:ext cx="381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Urbanist"/>
                <a:ea typeface="Urbanist"/>
                <a:cs typeface="Urbanist"/>
                <a:sym typeface="Urbanist"/>
              </a:rPr>
              <a:t>•</a:t>
            </a:r>
            <a:endParaRPr/>
          </a:p>
        </p:txBody>
      </p:sp>
      <p:sp>
        <p:nvSpPr>
          <p:cNvPr id="155" name="Google Shape;155;p16"/>
          <p:cNvSpPr txBox="1"/>
          <p:nvPr/>
        </p:nvSpPr>
        <p:spPr>
          <a:xfrm>
            <a:off x="6874809" y="3214689"/>
            <a:ext cx="4381500" cy="533400"/>
          </a:xfrm>
          <a:prstGeom prst="rect">
            <a:avLst/>
          </a:prstGeom>
          <a:noFill/>
          <a:ln>
            <a:noFill/>
          </a:ln>
        </p:spPr>
        <p:txBody>
          <a:bodyPr spcFirstLastPara="1" wrap="square" lIns="381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Urbanist"/>
                <a:ea typeface="Urbanist"/>
                <a:cs typeface="Urbanist"/>
                <a:sym typeface="Urbanist"/>
              </a:rPr>
              <a:t>Lộ trình cải thiện từng bước cho HS học lực trung bình thay vì chỉ tập trung ngành "hot".</a:t>
            </a:r>
            <a:endParaRPr/>
          </a:p>
        </p:txBody>
      </p:sp>
      <p:pic>
        <p:nvPicPr>
          <p:cNvPr id="17" name="Google Shape;85;p13" descr="image.png">
            <a:extLst>
              <a:ext uri="{FF2B5EF4-FFF2-40B4-BE49-F238E27FC236}">
                <a16:creationId xmlns:a16="http://schemas.microsoft.com/office/drawing/2014/main" id="{1F59186B-FA47-4983-9A26-819C9BBA763E}"/>
              </a:ext>
            </a:extLst>
          </p:cNvPr>
          <p:cNvPicPr preferRelativeResize="0"/>
          <p:nvPr/>
        </p:nvPicPr>
        <p:blipFill rotWithShape="1">
          <a:blip r:embed="rId5">
            <a:alphaModFix/>
          </a:blip>
          <a:srcRect/>
          <a:stretch/>
        </p:blipFill>
        <p:spPr>
          <a:xfrm>
            <a:off x="850527" y="1462086"/>
            <a:ext cx="4806202" cy="4257675"/>
          </a:xfrm>
          <a:prstGeom prst="rect">
            <a:avLst/>
          </a:prstGeom>
          <a:noFill/>
          <a:ln>
            <a:noFill/>
          </a:ln>
        </p:spPr>
      </p:pic>
      <p:sp>
        <p:nvSpPr>
          <p:cNvPr id="18" name="Google Shape;92;p13">
            <a:extLst>
              <a:ext uri="{FF2B5EF4-FFF2-40B4-BE49-F238E27FC236}">
                <a16:creationId xmlns:a16="http://schemas.microsoft.com/office/drawing/2014/main" id="{A0EE7409-9B02-4D8B-8B00-A4E7A88249FC}"/>
              </a:ext>
            </a:extLst>
          </p:cNvPr>
          <p:cNvSpPr txBox="1"/>
          <p:nvPr/>
        </p:nvSpPr>
        <p:spPr>
          <a:xfrm>
            <a:off x="1460126" y="1700212"/>
            <a:ext cx="3702691"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B91C1C"/>
                </a:solidFill>
                <a:latin typeface="Urbanist"/>
                <a:ea typeface="Urbanist"/>
                <a:cs typeface="Urbanist"/>
                <a:sym typeface="Urbanist"/>
              </a:rPr>
              <a:t>Rủi ro</a:t>
            </a:r>
            <a:endParaRPr/>
          </a:p>
        </p:txBody>
      </p:sp>
      <p:sp>
        <p:nvSpPr>
          <p:cNvPr id="19" name="Google Shape;93;p13">
            <a:extLst>
              <a:ext uri="{FF2B5EF4-FFF2-40B4-BE49-F238E27FC236}">
                <a16:creationId xmlns:a16="http://schemas.microsoft.com/office/drawing/2014/main" id="{8C8C0759-0B3D-4C55-9D8E-3C711ED5168A}"/>
              </a:ext>
            </a:extLst>
          </p:cNvPr>
          <p:cNvSpPr txBox="1"/>
          <p:nvPr/>
        </p:nvSpPr>
        <p:spPr>
          <a:xfrm>
            <a:off x="1136277" y="2205037"/>
            <a:ext cx="4062514" cy="1615827"/>
          </a:xfrm>
          <a:prstGeom prst="rect">
            <a:avLst/>
          </a:prstGeom>
          <a:noFill/>
          <a:ln>
            <a:noFill/>
          </a:ln>
        </p:spPr>
        <p:txBody>
          <a:bodyPr spcFirstLastPara="1" wrap="square" lIns="0" tIns="0" rIns="0" bIns="0" anchor="t" anchorCtr="0">
            <a:spAutoFit/>
          </a:bodyPr>
          <a:lstStyle/>
          <a:p>
            <a:pPr lvl="0">
              <a:lnSpc>
                <a:spcPct val="140000"/>
              </a:lnSpc>
            </a:pPr>
            <a:r>
              <a:rPr lang="vi-VN" sz="1500">
                <a:solidFill>
                  <a:srgbClr val="334155"/>
                </a:solidFill>
                <a:latin typeface="Urbanist"/>
                <a:ea typeface="Urbanist"/>
                <a:cs typeface="Urbanist"/>
                <a:sym typeface="Urbanist"/>
              </a:rPr>
              <a:t>Ứng dụng chỉ phục vụ tốt cho "học sinh giỏi, có điều kiện", vô tình bỏ rơi hoặc làm nản chí các nhóm yếu thế khi liên tục gợi ý những lộ trình vượt quá khả năng tài chính hoặc năng lực hiện tại của họ.</a:t>
            </a:r>
            <a:endParaRPr/>
          </a:p>
        </p:txBody>
      </p:sp>
      <p:pic>
        <p:nvPicPr>
          <p:cNvPr id="20" name="Google Shape;95;p13" descr="image.png">
            <a:extLst>
              <a:ext uri="{FF2B5EF4-FFF2-40B4-BE49-F238E27FC236}">
                <a16:creationId xmlns:a16="http://schemas.microsoft.com/office/drawing/2014/main" id="{44CD5703-9292-4297-AD74-54C0C3156BBD}"/>
              </a:ext>
            </a:extLst>
          </p:cNvPr>
          <p:cNvPicPr preferRelativeResize="0"/>
          <p:nvPr/>
        </p:nvPicPr>
        <p:blipFill rotWithShape="1">
          <a:blip r:embed="rId6">
            <a:alphaModFix/>
          </a:blip>
          <a:srcRect/>
          <a:stretch/>
        </p:blipFill>
        <p:spPr>
          <a:xfrm>
            <a:off x="1123950" y="1740705"/>
            <a:ext cx="228600" cy="1952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1" name="Google Shape;161;p17" descr="image.png"/>
          <p:cNvPicPr preferRelativeResize="0"/>
          <p:nvPr/>
        </p:nvPicPr>
        <p:blipFill rotWithShape="1">
          <a:blip r:embed="rId4">
            <a:alphaModFix/>
          </a:blip>
          <a:srcRect/>
          <a:stretch/>
        </p:blipFill>
        <p:spPr>
          <a:xfrm>
            <a:off x="4643717" y="2181225"/>
            <a:ext cx="3560107" cy="3257550"/>
          </a:xfrm>
          <a:prstGeom prst="rect">
            <a:avLst/>
          </a:prstGeom>
          <a:noFill/>
          <a:ln>
            <a:noFill/>
          </a:ln>
        </p:spPr>
      </p:pic>
      <p:pic>
        <p:nvPicPr>
          <p:cNvPr id="162" name="Google Shape;162;p17" descr="image.png"/>
          <p:cNvPicPr preferRelativeResize="0"/>
          <p:nvPr/>
        </p:nvPicPr>
        <p:blipFill rotWithShape="1">
          <a:blip r:embed="rId5">
            <a:alphaModFix/>
          </a:blip>
          <a:srcRect/>
          <a:stretch/>
        </p:blipFill>
        <p:spPr>
          <a:xfrm>
            <a:off x="8516470" y="2181225"/>
            <a:ext cx="3362885" cy="3257550"/>
          </a:xfrm>
          <a:prstGeom prst="rect">
            <a:avLst/>
          </a:prstGeom>
          <a:noFill/>
          <a:ln>
            <a:noFill/>
          </a:ln>
        </p:spPr>
      </p:pic>
      <p:sp>
        <p:nvSpPr>
          <p:cNvPr id="164" name="Google Shape;164;p17"/>
          <p:cNvSpPr/>
          <p:nvPr/>
        </p:nvSpPr>
        <p:spPr>
          <a:xfrm>
            <a:off x="571500" y="6467475"/>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5" name="Google Shape;165;p17"/>
          <p:cNvSpPr txBox="1"/>
          <p:nvPr/>
        </p:nvSpPr>
        <p:spPr>
          <a:xfrm>
            <a:off x="571500" y="381000"/>
            <a:ext cx="1160145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Urbanist"/>
                <a:ea typeface="Urbanist"/>
                <a:cs typeface="Urbanist"/>
                <a:sym typeface="Urbanist"/>
              </a:rPr>
              <a:t>05. Minh bạch &amp; Giải thích (Explainability)</a:t>
            </a:r>
            <a:endParaRPr/>
          </a:p>
        </p:txBody>
      </p:sp>
      <p:sp>
        <p:nvSpPr>
          <p:cNvPr id="166" name="Google Shape;166;p17"/>
          <p:cNvSpPr txBox="1"/>
          <p:nvPr/>
        </p:nvSpPr>
        <p:spPr>
          <a:xfrm>
            <a:off x="1047750" y="1533525"/>
            <a:ext cx="1009650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EA5E9"/>
                </a:solidFill>
                <a:latin typeface="Urbanist"/>
                <a:ea typeface="Urbanist"/>
                <a:cs typeface="Urbanist"/>
                <a:sym typeface="Urbanist"/>
              </a:rPr>
              <a:t>Mở toang "Hộp đen" (Black box) của AI</a:t>
            </a:r>
            <a:endParaRPr/>
          </a:p>
        </p:txBody>
      </p:sp>
      <p:pic>
        <p:nvPicPr>
          <p:cNvPr id="168" name="Google Shape;168;p17" descr="image.png"/>
          <p:cNvPicPr preferRelativeResize="0"/>
          <p:nvPr/>
        </p:nvPicPr>
        <p:blipFill rotWithShape="1">
          <a:blip r:embed="rId6">
            <a:alphaModFix/>
          </a:blip>
          <a:srcRect/>
          <a:stretch/>
        </p:blipFill>
        <p:spPr>
          <a:xfrm>
            <a:off x="4781240" y="2476500"/>
            <a:ext cx="3127310" cy="381000"/>
          </a:xfrm>
          <a:prstGeom prst="rect">
            <a:avLst/>
          </a:prstGeom>
          <a:noFill/>
          <a:ln>
            <a:noFill/>
          </a:ln>
        </p:spPr>
      </p:pic>
      <p:sp>
        <p:nvSpPr>
          <p:cNvPr id="169" name="Google Shape;169;p17"/>
          <p:cNvSpPr txBox="1"/>
          <p:nvPr/>
        </p:nvSpPr>
        <p:spPr>
          <a:xfrm>
            <a:off x="4838234" y="3000375"/>
            <a:ext cx="3283675"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0F172A"/>
                </a:solidFill>
                <a:latin typeface="Urbanist"/>
                <a:ea typeface="Urbanist"/>
                <a:cs typeface="Urbanist"/>
                <a:sym typeface="Urbanist"/>
              </a:rPr>
              <a:t>Chain-of-Thought</a:t>
            </a:r>
            <a:endParaRPr/>
          </a:p>
        </p:txBody>
      </p:sp>
      <p:sp>
        <p:nvSpPr>
          <p:cNvPr id="170" name="Google Shape;170;p17"/>
          <p:cNvSpPr txBox="1"/>
          <p:nvPr/>
        </p:nvSpPr>
        <p:spPr>
          <a:xfrm>
            <a:off x="4781240" y="3838575"/>
            <a:ext cx="3127310"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Urbanist"/>
                <a:ea typeface="Urbanist"/>
                <a:cs typeface="Urbanist"/>
                <a:sym typeface="Urbanist"/>
              </a:rPr>
              <a:t>Ép LLM giải thích tường tận tư duy: </a:t>
            </a:r>
            <a:r>
              <a:rPr lang="en-US" sz="1500" b="0" i="1" u="none" strike="noStrike" cap="none">
                <a:solidFill>
                  <a:srgbClr val="334155"/>
                </a:solidFill>
                <a:latin typeface="Urbanist"/>
                <a:ea typeface="Urbanist"/>
                <a:cs typeface="Urbanist"/>
                <a:sym typeface="Urbanist"/>
              </a:rPr>
              <a:t>Toán 8.5 + Tính cách hướng nội + Thích máy tính → Khoa học dữ liệu.</a:t>
            </a:r>
            <a:endParaRPr/>
          </a:p>
        </p:txBody>
      </p:sp>
      <p:pic>
        <p:nvPicPr>
          <p:cNvPr id="171" name="Google Shape;171;p17" descr="image.png"/>
          <p:cNvPicPr preferRelativeResize="0"/>
          <p:nvPr/>
        </p:nvPicPr>
        <p:blipFill rotWithShape="1">
          <a:blip r:embed="rId7">
            <a:alphaModFix/>
          </a:blip>
          <a:srcRect/>
          <a:stretch/>
        </p:blipFill>
        <p:spPr>
          <a:xfrm>
            <a:off x="8630017" y="2476500"/>
            <a:ext cx="2954064" cy="381000"/>
          </a:xfrm>
          <a:prstGeom prst="rect">
            <a:avLst/>
          </a:prstGeom>
          <a:noFill/>
          <a:ln>
            <a:noFill/>
          </a:ln>
        </p:spPr>
      </p:pic>
      <p:sp>
        <p:nvSpPr>
          <p:cNvPr id="172" name="Google Shape;172;p17"/>
          <p:cNvSpPr txBox="1"/>
          <p:nvPr/>
        </p:nvSpPr>
        <p:spPr>
          <a:xfrm>
            <a:off x="8695673" y="3000375"/>
            <a:ext cx="3101767"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0F172A"/>
                </a:solidFill>
                <a:latin typeface="Urbanist"/>
                <a:ea typeface="Urbanist"/>
                <a:cs typeface="Urbanist"/>
                <a:sym typeface="Urbanist"/>
              </a:rPr>
              <a:t>XAI Visualization</a:t>
            </a:r>
            <a:endParaRPr/>
          </a:p>
        </p:txBody>
      </p:sp>
      <p:sp>
        <p:nvSpPr>
          <p:cNvPr id="173" name="Google Shape;173;p17"/>
          <p:cNvSpPr txBox="1"/>
          <p:nvPr/>
        </p:nvSpPr>
        <p:spPr>
          <a:xfrm>
            <a:off x="8630017" y="3838575"/>
            <a:ext cx="2954064"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Urbanist"/>
                <a:ea typeface="Urbanist"/>
                <a:cs typeface="Urbanist"/>
                <a:sym typeface="Urbanist"/>
              </a:rPr>
              <a:t>Dùng SHAP/LIME vẽ biểu đồ trọng số đóng góp: Điểm số (40%), Tài chính (30%), Trực giác (30%).</a:t>
            </a:r>
            <a:endParaRPr/>
          </a:p>
        </p:txBody>
      </p:sp>
      <p:pic>
        <p:nvPicPr>
          <p:cNvPr id="17" name="Google Shape;85;p13" descr="image.png">
            <a:extLst>
              <a:ext uri="{FF2B5EF4-FFF2-40B4-BE49-F238E27FC236}">
                <a16:creationId xmlns:a16="http://schemas.microsoft.com/office/drawing/2014/main" id="{CAB794E9-2317-41A1-9598-10D921C6AB95}"/>
              </a:ext>
            </a:extLst>
          </p:cNvPr>
          <p:cNvPicPr preferRelativeResize="0"/>
          <p:nvPr/>
        </p:nvPicPr>
        <p:blipFill rotWithShape="1">
          <a:blip r:embed="rId8">
            <a:alphaModFix/>
          </a:blip>
          <a:srcRect/>
          <a:stretch/>
        </p:blipFill>
        <p:spPr>
          <a:xfrm>
            <a:off x="1047750" y="2181225"/>
            <a:ext cx="3248025" cy="3257550"/>
          </a:xfrm>
          <a:prstGeom prst="rect">
            <a:avLst/>
          </a:prstGeom>
          <a:noFill/>
          <a:ln>
            <a:noFill/>
          </a:ln>
        </p:spPr>
      </p:pic>
      <p:sp>
        <p:nvSpPr>
          <p:cNvPr id="18" name="Google Shape;92;p13">
            <a:extLst>
              <a:ext uri="{FF2B5EF4-FFF2-40B4-BE49-F238E27FC236}">
                <a16:creationId xmlns:a16="http://schemas.microsoft.com/office/drawing/2014/main" id="{4F24C88E-DEED-4991-9EA0-3B484C14DC5C}"/>
              </a:ext>
            </a:extLst>
          </p:cNvPr>
          <p:cNvSpPr txBox="1"/>
          <p:nvPr/>
        </p:nvSpPr>
        <p:spPr>
          <a:xfrm>
            <a:off x="1657350" y="2419350"/>
            <a:ext cx="2502274" cy="2762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B91C1C"/>
                </a:solidFill>
                <a:latin typeface="Urbanist"/>
                <a:ea typeface="Urbanist"/>
                <a:cs typeface="Urbanist"/>
                <a:sym typeface="Urbanist"/>
              </a:rPr>
              <a:t>Rủi ro</a:t>
            </a:r>
            <a:endParaRPr/>
          </a:p>
        </p:txBody>
      </p:sp>
      <p:sp>
        <p:nvSpPr>
          <p:cNvPr id="19" name="Google Shape;93;p13">
            <a:extLst>
              <a:ext uri="{FF2B5EF4-FFF2-40B4-BE49-F238E27FC236}">
                <a16:creationId xmlns:a16="http://schemas.microsoft.com/office/drawing/2014/main" id="{45A75E3A-9E9E-4516-B29F-1F775767097F}"/>
              </a:ext>
            </a:extLst>
          </p:cNvPr>
          <p:cNvSpPr txBox="1"/>
          <p:nvPr/>
        </p:nvSpPr>
        <p:spPr>
          <a:xfrm>
            <a:off x="1333500" y="2924175"/>
            <a:ext cx="2745441" cy="1615827"/>
          </a:xfrm>
          <a:prstGeom prst="rect">
            <a:avLst/>
          </a:prstGeom>
          <a:noFill/>
          <a:ln>
            <a:noFill/>
          </a:ln>
        </p:spPr>
        <p:txBody>
          <a:bodyPr spcFirstLastPara="1" wrap="square" lIns="0" tIns="0" rIns="0" bIns="0" anchor="t" anchorCtr="0">
            <a:spAutoFit/>
          </a:bodyPr>
          <a:lstStyle/>
          <a:p>
            <a:pPr lvl="0">
              <a:lnSpc>
                <a:spcPct val="140000"/>
              </a:lnSpc>
            </a:pPr>
            <a:r>
              <a:rPr lang="vi-VN" sz="1500">
                <a:solidFill>
                  <a:srgbClr val="334155"/>
                </a:solidFill>
                <a:latin typeface="Urbanist"/>
                <a:ea typeface="Urbanist"/>
                <a:cs typeface="Urbanist"/>
                <a:sym typeface="Urbanist"/>
              </a:rPr>
              <a:t>AI hoạt động như một "hộp đen" (Black box). Gợi ý một học sinh đi học ngành Công nghệ thông tin nhưng không giải thích lý do</a:t>
            </a:r>
            <a:r>
              <a:rPr lang="en-US" sz="1500">
                <a:solidFill>
                  <a:srgbClr val="334155"/>
                </a:solidFill>
                <a:latin typeface="Urbanist"/>
                <a:ea typeface="Urbanist"/>
                <a:cs typeface="Urbanist"/>
                <a:sym typeface="Urbanist"/>
              </a:rPr>
              <a:t>, giải thích chung chung</a:t>
            </a:r>
            <a:endParaRPr/>
          </a:p>
        </p:txBody>
      </p:sp>
      <p:pic>
        <p:nvPicPr>
          <p:cNvPr id="20" name="Google Shape;95;p13" descr="image.png">
            <a:extLst>
              <a:ext uri="{FF2B5EF4-FFF2-40B4-BE49-F238E27FC236}">
                <a16:creationId xmlns:a16="http://schemas.microsoft.com/office/drawing/2014/main" id="{4C405E92-5B8B-4404-8F32-DC908A85DB2D}"/>
              </a:ext>
            </a:extLst>
          </p:cNvPr>
          <p:cNvPicPr preferRelativeResize="0"/>
          <p:nvPr/>
        </p:nvPicPr>
        <p:blipFill rotWithShape="1">
          <a:blip r:embed="rId9">
            <a:alphaModFix/>
          </a:blip>
          <a:srcRect/>
          <a:stretch/>
        </p:blipFill>
        <p:spPr>
          <a:xfrm>
            <a:off x="1333500" y="2443162"/>
            <a:ext cx="228600" cy="1952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60"/>
        <p:cNvGrpSpPr/>
        <p:nvPr/>
      </p:nvGrpSpPr>
      <p:grpSpPr>
        <a:xfrm>
          <a:off x="0" y="0"/>
          <a:ext cx="0" cy="0"/>
          <a:chOff x="0" y="0"/>
          <a:chExt cx="0" cy="0"/>
        </a:xfrm>
      </p:grpSpPr>
      <p:pic>
        <p:nvPicPr>
          <p:cNvPr id="261" name="Google Shape;261;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2" name="Google Shape;262;p23"/>
          <p:cNvSpPr txBox="1"/>
          <p:nvPr/>
        </p:nvSpPr>
        <p:spPr>
          <a:xfrm>
            <a:off x="1000125" y="2671762"/>
            <a:ext cx="4857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Xây dựng thành công hệ thống RAG + LLM hoàn chỉnh.</a:t>
            </a:r>
            <a:endParaRPr/>
          </a:p>
        </p:txBody>
      </p:sp>
      <p:sp>
        <p:nvSpPr>
          <p:cNvPr id="263" name="Google Shape;263;p23"/>
          <p:cNvSpPr txBox="1"/>
          <p:nvPr/>
        </p:nvSpPr>
        <p:spPr>
          <a:xfrm>
            <a:off x="1000125" y="3471862"/>
            <a:ext cx="48577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Chiến lược Fallback đảm bảo độ sẵn sàng 99.9%.</a:t>
            </a:r>
            <a:endParaRPr/>
          </a:p>
        </p:txBody>
      </p:sp>
      <p:sp>
        <p:nvSpPr>
          <p:cNvPr id="264" name="Google Shape;264;p23"/>
          <p:cNvSpPr txBox="1"/>
          <p:nvPr/>
        </p:nvSpPr>
        <p:spPr>
          <a:xfrm>
            <a:off x="1000125" y="4271962"/>
            <a:ext cx="48577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Cá nhân hóa tư vấn dựa trên Holland Code thực tế.</a:t>
            </a:r>
            <a:endParaRPr/>
          </a:p>
        </p:txBody>
      </p:sp>
      <p:sp>
        <p:nvSpPr>
          <p:cNvPr id="265" name="Google Shape;265;p23"/>
          <p:cNvSpPr txBox="1"/>
          <p:nvPr/>
        </p:nvSpPr>
        <p:spPr>
          <a:xfrm>
            <a:off x="6762750" y="2671762"/>
            <a:ext cx="4857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Thiết lập hàng rào bảo mật Anti-bias &amp; Anti-hallucination.</a:t>
            </a:r>
            <a:endParaRPr/>
          </a:p>
        </p:txBody>
      </p:sp>
      <p:sp>
        <p:nvSpPr>
          <p:cNvPr id="266" name="Google Shape;266;p23"/>
          <p:cNvSpPr txBox="1"/>
          <p:nvPr/>
        </p:nvSpPr>
        <p:spPr>
          <a:xfrm>
            <a:off x="6762750" y="3471862"/>
            <a:ext cx="4857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Giao diện Responsive hiện đại trên nền tảng Angular 17.</a:t>
            </a:r>
            <a:endParaRPr/>
          </a:p>
        </p:txBody>
      </p:sp>
      <p:sp>
        <p:nvSpPr>
          <p:cNvPr id="267" name="Google Shape;267;p23"/>
          <p:cNvSpPr txBox="1"/>
          <p:nvPr/>
        </p:nvSpPr>
        <p:spPr>
          <a:xfrm>
            <a:off x="6762750" y="4271962"/>
            <a:ext cx="4857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Hệ thống sẵn sàng cho việc mở rộng (Scalable architecture).</a:t>
            </a:r>
            <a:endParaRPr/>
          </a:p>
        </p:txBody>
      </p:sp>
      <p:pic>
        <p:nvPicPr>
          <p:cNvPr id="268" name="Google Shape;268;p23" descr="image.png"/>
          <p:cNvPicPr preferRelativeResize="0"/>
          <p:nvPr/>
        </p:nvPicPr>
        <p:blipFill rotWithShape="1">
          <a:blip r:embed="rId4">
            <a:alphaModFix/>
          </a:blip>
          <a:srcRect/>
          <a:stretch/>
        </p:blipFill>
        <p:spPr>
          <a:xfrm>
            <a:off x="571500" y="2709862"/>
            <a:ext cx="228600" cy="247650"/>
          </a:xfrm>
          <a:prstGeom prst="rect">
            <a:avLst/>
          </a:prstGeom>
          <a:noFill/>
          <a:ln>
            <a:noFill/>
          </a:ln>
        </p:spPr>
      </p:pic>
      <p:pic>
        <p:nvPicPr>
          <p:cNvPr id="269" name="Google Shape;269;p23" descr="image.png"/>
          <p:cNvPicPr preferRelativeResize="0"/>
          <p:nvPr/>
        </p:nvPicPr>
        <p:blipFill rotWithShape="1">
          <a:blip r:embed="rId4">
            <a:alphaModFix/>
          </a:blip>
          <a:srcRect/>
          <a:stretch/>
        </p:blipFill>
        <p:spPr>
          <a:xfrm>
            <a:off x="571500" y="3509962"/>
            <a:ext cx="228600" cy="247650"/>
          </a:xfrm>
          <a:prstGeom prst="rect">
            <a:avLst/>
          </a:prstGeom>
          <a:noFill/>
          <a:ln>
            <a:noFill/>
          </a:ln>
        </p:spPr>
      </p:pic>
      <p:pic>
        <p:nvPicPr>
          <p:cNvPr id="270" name="Google Shape;270;p23" descr="image.png"/>
          <p:cNvPicPr preferRelativeResize="0"/>
          <p:nvPr/>
        </p:nvPicPr>
        <p:blipFill rotWithShape="1">
          <a:blip r:embed="rId4">
            <a:alphaModFix/>
          </a:blip>
          <a:srcRect/>
          <a:stretch/>
        </p:blipFill>
        <p:spPr>
          <a:xfrm>
            <a:off x="571500" y="4310062"/>
            <a:ext cx="228600" cy="247650"/>
          </a:xfrm>
          <a:prstGeom prst="rect">
            <a:avLst/>
          </a:prstGeom>
          <a:noFill/>
          <a:ln>
            <a:noFill/>
          </a:ln>
        </p:spPr>
      </p:pic>
      <p:pic>
        <p:nvPicPr>
          <p:cNvPr id="271" name="Google Shape;271;p23" descr="image.png"/>
          <p:cNvPicPr preferRelativeResize="0"/>
          <p:nvPr/>
        </p:nvPicPr>
        <p:blipFill rotWithShape="1">
          <a:blip r:embed="rId4">
            <a:alphaModFix/>
          </a:blip>
          <a:srcRect/>
          <a:stretch/>
        </p:blipFill>
        <p:spPr>
          <a:xfrm>
            <a:off x="6334125" y="2709862"/>
            <a:ext cx="228600" cy="247650"/>
          </a:xfrm>
          <a:prstGeom prst="rect">
            <a:avLst/>
          </a:prstGeom>
          <a:noFill/>
          <a:ln>
            <a:noFill/>
          </a:ln>
        </p:spPr>
      </p:pic>
      <p:pic>
        <p:nvPicPr>
          <p:cNvPr id="272" name="Google Shape;272;p23" descr="image.png"/>
          <p:cNvPicPr preferRelativeResize="0"/>
          <p:nvPr/>
        </p:nvPicPr>
        <p:blipFill rotWithShape="1">
          <a:blip r:embed="rId4">
            <a:alphaModFix/>
          </a:blip>
          <a:srcRect/>
          <a:stretch/>
        </p:blipFill>
        <p:spPr>
          <a:xfrm>
            <a:off x="6334125" y="3509962"/>
            <a:ext cx="228600" cy="247650"/>
          </a:xfrm>
          <a:prstGeom prst="rect">
            <a:avLst/>
          </a:prstGeom>
          <a:noFill/>
          <a:ln>
            <a:noFill/>
          </a:ln>
        </p:spPr>
      </p:pic>
      <p:pic>
        <p:nvPicPr>
          <p:cNvPr id="273" name="Google Shape;273;p23" descr="image.png"/>
          <p:cNvPicPr preferRelativeResize="0"/>
          <p:nvPr/>
        </p:nvPicPr>
        <p:blipFill rotWithShape="1">
          <a:blip r:embed="rId4">
            <a:alphaModFix/>
          </a:blip>
          <a:srcRect/>
          <a:stretch/>
        </p:blipFill>
        <p:spPr>
          <a:xfrm>
            <a:off x="6334125" y="4310062"/>
            <a:ext cx="228600" cy="247650"/>
          </a:xfrm>
          <a:prstGeom prst="rect">
            <a:avLst/>
          </a:prstGeom>
          <a:noFill/>
          <a:ln>
            <a:noFill/>
          </a:ln>
        </p:spPr>
      </p:pic>
      <p:sp>
        <p:nvSpPr>
          <p:cNvPr id="274" name="Google Shape;274;p23"/>
          <p:cNvSpPr txBox="1"/>
          <p:nvPr/>
        </p:nvSpPr>
        <p:spPr>
          <a:xfrm>
            <a:off x="809625" y="571500"/>
            <a:ext cx="11351418"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FFFFF"/>
                </a:solidFill>
                <a:latin typeface="Urbanist"/>
                <a:ea typeface="Urbanist"/>
                <a:cs typeface="Urbanist"/>
                <a:sym typeface="Urbanist"/>
              </a:rPr>
              <a:t>Thành tựu &amp; Kết quả Đạt được</a:t>
            </a:r>
            <a:endParaRPr/>
          </a:p>
        </p:txBody>
      </p:sp>
      <p:sp>
        <p:nvSpPr>
          <p:cNvPr id="275" name="Google Shape;275;p23"/>
          <p:cNvSpPr/>
          <p:nvPr/>
        </p:nvSpPr>
        <p:spPr>
          <a:xfrm>
            <a:off x="571500" y="571500"/>
            <a:ext cx="57150"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8"/>
        <p:cNvGrpSpPr/>
        <p:nvPr/>
      </p:nvGrpSpPr>
      <p:grpSpPr>
        <a:xfrm>
          <a:off x="0" y="0"/>
          <a:ext cx="0" cy="0"/>
          <a:chOff x="0" y="0"/>
          <a:chExt cx="0" cy="0"/>
        </a:xfrm>
      </p:grpSpPr>
      <p:pic>
        <p:nvPicPr>
          <p:cNvPr id="229" name="Google Shape;22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230" name="Google Shape;230;p22"/>
          <p:cNvGraphicFramePr/>
          <p:nvPr>
            <p:extLst>
              <p:ext uri="{D42A27DB-BD31-4B8C-83A1-F6EECF244321}">
                <p14:modId xmlns:p14="http://schemas.microsoft.com/office/powerpoint/2010/main" val="2913396975"/>
              </p:ext>
            </p:extLst>
          </p:nvPr>
        </p:nvGraphicFramePr>
        <p:xfrm>
          <a:off x="571500" y="2100262"/>
          <a:ext cx="11048975" cy="3543250"/>
        </p:xfrm>
        <a:graphic>
          <a:graphicData uri="http://schemas.openxmlformats.org/drawingml/2006/table">
            <a:tbl>
              <a:tblPr firstRow="1" bandRow="1">
                <a:noFill/>
                <a:tableStyleId>{627F0C40-E537-4A80-A629-6686285E020A}</a:tableStyleId>
              </a:tblPr>
              <a:tblGrid>
                <a:gridCol w="4014925">
                  <a:extLst>
                    <a:ext uri="{9D8B030D-6E8A-4147-A177-3AD203B41FA5}">
                      <a16:colId xmlns:a16="http://schemas.microsoft.com/office/drawing/2014/main" val="20000"/>
                    </a:ext>
                  </a:extLst>
                </a:gridCol>
                <a:gridCol w="4933050">
                  <a:extLst>
                    <a:ext uri="{9D8B030D-6E8A-4147-A177-3AD203B41FA5}">
                      <a16:colId xmlns:a16="http://schemas.microsoft.com/office/drawing/2014/main" val="20001"/>
                    </a:ext>
                  </a:extLst>
                </a:gridCol>
                <a:gridCol w="2101000">
                  <a:extLst>
                    <a:ext uri="{9D8B030D-6E8A-4147-A177-3AD203B41FA5}">
                      <a16:colId xmlns:a16="http://schemas.microsoft.com/office/drawing/2014/main" val="20002"/>
                    </a:ext>
                  </a:extLst>
                </a:gridCol>
              </a:tblGrid>
              <a:tr h="708650">
                <a:tc>
                  <a:txBody>
                    <a:bodyPr/>
                    <a:lstStyle/>
                    <a:p>
                      <a:pPr marL="0" marR="0" lvl="0" indent="0" algn="l" rtl="0">
                        <a:spcBef>
                          <a:spcPts val="0"/>
                        </a:spcBef>
                        <a:spcAft>
                          <a:spcPts val="0"/>
                        </a:spcAft>
                        <a:buNone/>
                      </a:pPr>
                      <a:r>
                        <a:rPr lang="en-US" sz="1500" b="1" i="0" u="none" strike="noStrike" cap="none">
                          <a:solidFill>
                            <a:srgbClr val="06B6D4"/>
                          </a:solidFill>
                          <a:latin typeface="Inter"/>
                          <a:ea typeface="Inter"/>
                          <a:cs typeface="Inter"/>
                          <a:sym typeface="Inter"/>
                        </a:rPr>
                        <a:t>Endpoint / Công nghệ</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06B6D4"/>
                          </a:solidFill>
                          <a:latin typeface="Inter"/>
                          <a:ea typeface="Inter"/>
                          <a:cs typeface="Inter"/>
                          <a:sym typeface="Inter"/>
                        </a:rPr>
                        <a:t>Mô tả / Vai trò</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06B6D4"/>
                          </a:solidFill>
                          <a:latin typeface="Inter"/>
                          <a:ea typeface="Inter"/>
                          <a:cs typeface="Inter"/>
                          <a:sym typeface="Inter"/>
                        </a:rPr>
                        <a:t>Trạng thái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708650">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POST /v1/chat/message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Tương tác AI thời gian thực với RAG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Active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1"/>
                  </a:ext>
                </a:extLst>
              </a:tr>
              <a:tr h="708650">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POST /v1/assessment/submit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Xử lý trắc nghiệm Holland Code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Active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2"/>
                  </a:ext>
                </a:extLst>
              </a:tr>
              <a:tr h="708650">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Gemini, Chroma DB</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Hệ thống điều phối LLM &amp; Vector DB</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Stable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3"/>
                  </a:ext>
                </a:extLst>
              </a:tr>
              <a:tr h="708650">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PostgreSQL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Lưu trữ dữ liệu</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200" b="0" i="0" u="none" strike="noStrike" cap="none">
                          <a:solidFill>
                            <a:srgbClr val="F1F5F9"/>
                          </a:solidFill>
                          <a:latin typeface="Inter"/>
                          <a:ea typeface="Inter"/>
                          <a:cs typeface="Inter"/>
                          <a:sym typeface="Inter"/>
                        </a:rPr>
                        <a:t>Ready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4"/>
                  </a:ext>
                </a:extLst>
              </a:tr>
            </a:tbl>
          </a:graphicData>
        </a:graphic>
      </p:graphicFrame>
      <p:sp>
        <p:nvSpPr>
          <p:cNvPr id="231" name="Google Shape;231;p22"/>
          <p:cNvSpPr/>
          <p:nvPr/>
        </p:nvSpPr>
        <p:spPr>
          <a:xfrm>
            <a:off x="571500" y="3481387"/>
            <a:ext cx="401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2" name="Google Shape;232;p22"/>
          <p:cNvSpPr/>
          <p:nvPr/>
        </p:nvSpPr>
        <p:spPr>
          <a:xfrm>
            <a:off x="571500" y="2900362"/>
            <a:ext cx="401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22"/>
          <p:cNvSpPr/>
          <p:nvPr/>
        </p:nvSpPr>
        <p:spPr>
          <a:xfrm>
            <a:off x="4586436" y="3481387"/>
            <a:ext cx="493305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4" name="Google Shape;234;p22"/>
          <p:cNvSpPr/>
          <p:nvPr/>
        </p:nvSpPr>
        <p:spPr>
          <a:xfrm>
            <a:off x="4586436" y="2900362"/>
            <a:ext cx="493305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5" name="Google Shape;235;p22"/>
          <p:cNvSpPr/>
          <p:nvPr/>
        </p:nvSpPr>
        <p:spPr>
          <a:xfrm>
            <a:off x="9519493" y="3481387"/>
            <a:ext cx="21010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6" name="Google Shape;236;p22"/>
          <p:cNvSpPr/>
          <p:nvPr/>
        </p:nvSpPr>
        <p:spPr>
          <a:xfrm>
            <a:off x="9519493" y="2900362"/>
            <a:ext cx="21010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7" name="Google Shape;237;p22"/>
          <p:cNvSpPr/>
          <p:nvPr/>
        </p:nvSpPr>
        <p:spPr>
          <a:xfrm>
            <a:off x="571500" y="4167187"/>
            <a:ext cx="401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8" name="Google Shape;238;p22"/>
          <p:cNvSpPr/>
          <p:nvPr/>
        </p:nvSpPr>
        <p:spPr>
          <a:xfrm>
            <a:off x="571500" y="3586162"/>
            <a:ext cx="401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9" name="Google Shape;239;p22"/>
          <p:cNvSpPr/>
          <p:nvPr/>
        </p:nvSpPr>
        <p:spPr>
          <a:xfrm>
            <a:off x="4586436" y="4167187"/>
            <a:ext cx="493305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22"/>
          <p:cNvSpPr/>
          <p:nvPr/>
        </p:nvSpPr>
        <p:spPr>
          <a:xfrm>
            <a:off x="4586436" y="3586162"/>
            <a:ext cx="493305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1" name="Google Shape;241;p22"/>
          <p:cNvSpPr/>
          <p:nvPr/>
        </p:nvSpPr>
        <p:spPr>
          <a:xfrm>
            <a:off x="9519493" y="4167187"/>
            <a:ext cx="21010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22"/>
          <p:cNvSpPr/>
          <p:nvPr/>
        </p:nvSpPr>
        <p:spPr>
          <a:xfrm>
            <a:off x="9519493" y="3586162"/>
            <a:ext cx="21010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22"/>
          <p:cNvSpPr/>
          <p:nvPr/>
        </p:nvSpPr>
        <p:spPr>
          <a:xfrm>
            <a:off x="571500" y="4852987"/>
            <a:ext cx="401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4" name="Google Shape;244;p22"/>
          <p:cNvSpPr/>
          <p:nvPr/>
        </p:nvSpPr>
        <p:spPr>
          <a:xfrm>
            <a:off x="571500" y="4271962"/>
            <a:ext cx="401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5" name="Google Shape;245;p22"/>
          <p:cNvSpPr/>
          <p:nvPr/>
        </p:nvSpPr>
        <p:spPr>
          <a:xfrm>
            <a:off x="4586436" y="4852987"/>
            <a:ext cx="493305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6" name="Google Shape;246;p22"/>
          <p:cNvSpPr/>
          <p:nvPr/>
        </p:nvSpPr>
        <p:spPr>
          <a:xfrm>
            <a:off x="4586436" y="4271962"/>
            <a:ext cx="493305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2"/>
          <p:cNvSpPr/>
          <p:nvPr/>
        </p:nvSpPr>
        <p:spPr>
          <a:xfrm>
            <a:off x="9519493" y="4852987"/>
            <a:ext cx="21010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8" name="Google Shape;248;p22"/>
          <p:cNvSpPr/>
          <p:nvPr/>
        </p:nvSpPr>
        <p:spPr>
          <a:xfrm>
            <a:off x="9519493" y="4271962"/>
            <a:ext cx="21010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2"/>
          <p:cNvSpPr/>
          <p:nvPr/>
        </p:nvSpPr>
        <p:spPr>
          <a:xfrm>
            <a:off x="571500" y="5538787"/>
            <a:ext cx="401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2"/>
          <p:cNvSpPr/>
          <p:nvPr/>
        </p:nvSpPr>
        <p:spPr>
          <a:xfrm>
            <a:off x="571500" y="4957762"/>
            <a:ext cx="401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2"/>
          <p:cNvSpPr/>
          <p:nvPr/>
        </p:nvSpPr>
        <p:spPr>
          <a:xfrm>
            <a:off x="4586436" y="5538787"/>
            <a:ext cx="493305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2"/>
          <p:cNvSpPr/>
          <p:nvPr/>
        </p:nvSpPr>
        <p:spPr>
          <a:xfrm>
            <a:off x="4586436" y="4957762"/>
            <a:ext cx="493305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2"/>
          <p:cNvSpPr/>
          <p:nvPr/>
        </p:nvSpPr>
        <p:spPr>
          <a:xfrm>
            <a:off x="9519493" y="5538787"/>
            <a:ext cx="21010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2"/>
          <p:cNvSpPr/>
          <p:nvPr/>
        </p:nvSpPr>
        <p:spPr>
          <a:xfrm>
            <a:off x="9519493" y="4957762"/>
            <a:ext cx="21010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2"/>
          <p:cNvSpPr txBox="1"/>
          <p:nvPr/>
        </p:nvSpPr>
        <p:spPr>
          <a:xfrm>
            <a:off x="809625" y="571500"/>
            <a:ext cx="11351418"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FFFFF"/>
                </a:solidFill>
                <a:latin typeface="Urbanist"/>
                <a:ea typeface="Urbanist"/>
                <a:cs typeface="Urbanist"/>
                <a:sym typeface="Urbanist"/>
              </a:rPr>
              <a:t>Backend API &amp; Tech Stack</a:t>
            </a:r>
            <a:endParaRPr/>
          </a:p>
        </p:txBody>
      </p:sp>
      <p:sp>
        <p:nvSpPr>
          <p:cNvPr id="256" name="Google Shape;256;p22"/>
          <p:cNvSpPr/>
          <p:nvPr/>
        </p:nvSpPr>
        <p:spPr>
          <a:xfrm>
            <a:off x="571500" y="571500"/>
            <a:ext cx="57150"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280" name="Google Shape;280;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1" name="Google Shape;281;p24" descr="image.png"/>
          <p:cNvPicPr preferRelativeResize="0"/>
          <p:nvPr/>
        </p:nvPicPr>
        <p:blipFill rotWithShape="1">
          <a:blip r:embed="rId4">
            <a:alphaModFix/>
          </a:blip>
          <a:srcRect/>
          <a:stretch/>
        </p:blipFill>
        <p:spPr>
          <a:xfrm>
            <a:off x="2719387" y="2552700"/>
            <a:ext cx="2838450" cy="1965672"/>
          </a:xfrm>
          <a:prstGeom prst="rect">
            <a:avLst/>
          </a:prstGeom>
          <a:noFill/>
          <a:ln>
            <a:noFill/>
          </a:ln>
        </p:spPr>
      </p:pic>
      <p:pic>
        <p:nvPicPr>
          <p:cNvPr id="282" name="Google Shape;282;p24" descr="image.png"/>
          <p:cNvPicPr preferRelativeResize="0"/>
          <p:nvPr/>
        </p:nvPicPr>
        <p:blipFill rotWithShape="1">
          <a:blip r:embed="rId5">
            <a:alphaModFix/>
          </a:blip>
          <a:srcRect/>
          <a:stretch/>
        </p:blipFill>
        <p:spPr>
          <a:xfrm>
            <a:off x="5938837" y="2552699"/>
            <a:ext cx="3533775" cy="1965673"/>
          </a:xfrm>
          <a:prstGeom prst="rect">
            <a:avLst/>
          </a:prstGeom>
          <a:noFill/>
          <a:ln>
            <a:noFill/>
          </a:ln>
        </p:spPr>
      </p:pic>
      <p:sp>
        <p:nvSpPr>
          <p:cNvPr id="283" name="Google Shape;283;p24"/>
          <p:cNvSpPr txBox="1"/>
          <p:nvPr/>
        </p:nvSpPr>
        <p:spPr>
          <a:xfrm>
            <a:off x="295275" y="571500"/>
            <a:ext cx="11601450"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6B6D4"/>
                </a:solidFill>
                <a:latin typeface="Urbanist"/>
                <a:ea typeface="Urbanist"/>
                <a:cs typeface="Urbanist"/>
                <a:sym typeface="Urbanist"/>
              </a:rPr>
              <a:t>Questions &amp; Answers</a:t>
            </a:r>
            <a:endParaRPr/>
          </a:p>
        </p:txBody>
      </p:sp>
      <p:sp>
        <p:nvSpPr>
          <p:cNvPr id="284" name="Google Shape;284;p24"/>
          <p:cNvSpPr txBox="1"/>
          <p:nvPr/>
        </p:nvSpPr>
        <p:spPr>
          <a:xfrm>
            <a:off x="571500" y="1676400"/>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Cảm ơn bạn đã theo dõi bài thuyết trình!</a:t>
            </a:r>
            <a:endParaRPr/>
          </a:p>
        </p:txBody>
      </p:sp>
      <p:sp>
        <p:nvSpPr>
          <p:cNvPr id="285" name="Google Shape;285;p24"/>
          <p:cNvSpPr txBox="1"/>
          <p:nvPr/>
        </p:nvSpPr>
        <p:spPr>
          <a:xfrm>
            <a:off x="2909887" y="2743200"/>
            <a:ext cx="2457450" cy="369332"/>
          </a:xfrm>
          <a:prstGeom prst="rect">
            <a:avLst/>
          </a:prstGeom>
          <a:noFill/>
          <a:ln>
            <a:noFill/>
          </a:ln>
        </p:spPr>
        <p:txBody>
          <a:bodyPr spcFirstLastPara="1" wrap="square" lIns="1905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 Liên hệ:</a:t>
            </a:r>
            <a:endParaRPr/>
          </a:p>
        </p:txBody>
      </p:sp>
      <p:sp>
        <p:nvSpPr>
          <p:cNvPr id="286" name="Google Shape;286;p24"/>
          <p:cNvSpPr txBox="1"/>
          <p:nvPr/>
        </p:nvSpPr>
        <p:spPr>
          <a:xfrm>
            <a:off x="2909887" y="3048000"/>
            <a:ext cx="2457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Nguyễn Văn Đỉnh</a:t>
            </a:r>
            <a:endParaRPr/>
          </a:p>
        </p:txBody>
      </p:sp>
      <p:sp>
        <p:nvSpPr>
          <p:cNvPr id="287" name="Google Shape;287;p24"/>
          <p:cNvSpPr txBox="1"/>
          <p:nvPr/>
        </p:nvSpPr>
        <p:spPr>
          <a:xfrm>
            <a:off x="2909887" y="3352800"/>
            <a:ext cx="24574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26410020</a:t>
            </a:r>
            <a:endParaRPr lang="en-US"/>
          </a:p>
        </p:txBody>
      </p:sp>
      <p:sp>
        <p:nvSpPr>
          <p:cNvPr id="288" name="Google Shape;288;p24"/>
          <p:cNvSpPr txBox="1"/>
          <p:nvPr/>
        </p:nvSpPr>
        <p:spPr>
          <a:xfrm>
            <a:off x="6129337" y="2743200"/>
            <a:ext cx="3152775" cy="369332"/>
          </a:xfrm>
          <a:prstGeom prst="rect">
            <a:avLst/>
          </a:prstGeom>
          <a:noFill/>
          <a:ln>
            <a:noFill/>
          </a:ln>
        </p:spPr>
        <p:txBody>
          <a:bodyPr spcFirstLastPara="1" wrap="square" lIns="1905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 Hướng phát triển:</a:t>
            </a:r>
            <a:endParaRPr/>
          </a:p>
        </p:txBody>
      </p:sp>
      <p:sp>
        <p:nvSpPr>
          <p:cNvPr id="290" name="Google Shape;290;p24"/>
          <p:cNvSpPr txBox="1"/>
          <p:nvPr/>
        </p:nvSpPr>
        <p:spPr>
          <a:xfrm>
            <a:off x="6129337" y="3041045"/>
            <a:ext cx="3152775"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Integration với Career Data thực tế t</a:t>
            </a:r>
            <a:r>
              <a:rPr lang="en-US" sz="1500">
                <a:solidFill>
                  <a:srgbClr val="94A3B8"/>
                </a:solidFill>
                <a:latin typeface="Inter"/>
                <a:ea typeface="Inter"/>
                <a:cs typeface="Inter"/>
                <a:sym typeface="Inter"/>
              </a:rPr>
              <a:t>ừ các tr</a:t>
            </a:r>
            <a:r>
              <a:rPr lang="vi-VN" sz="1500">
                <a:solidFill>
                  <a:srgbClr val="94A3B8"/>
                </a:solidFill>
                <a:latin typeface="Inter"/>
                <a:ea typeface="Inter"/>
                <a:cs typeface="Inter"/>
                <a:sym typeface="Inter"/>
              </a:rPr>
              <a:t>ư</a:t>
            </a:r>
            <a:r>
              <a:rPr lang="en-US" sz="1500">
                <a:solidFill>
                  <a:srgbClr val="94A3B8"/>
                </a:solidFill>
                <a:latin typeface="Inter"/>
                <a:ea typeface="Inter"/>
                <a:cs typeface="Inter"/>
                <a:sym typeface="Inter"/>
              </a:rPr>
              <a:t>ờng đại học/cao đẳng, các trong tuyển dụng việc làm uy tín</a:t>
            </a:r>
            <a:endParaRPr/>
          </a:p>
        </p:txBody>
      </p:sp>
      <p:pic>
        <p:nvPicPr>
          <p:cNvPr id="291" name="Google Shape;291;p24" descr="image.png"/>
          <p:cNvPicPr preferRelativeResize="0"/>
          <p:nvPr/>
        </p:nvPicPr>
        <p:blipFill rotWithShape="1">
          <a:blip r:embed="rId6">
            <a:alphaModFix/>
          </a:blip>
          <a:srcRect/>
          <a:stretch/>
        </p:blipFill>
        <p:spPr>
          <a:xfrm>
            <a:off x="2909887" y="2855259"/>
            <a:ext cx="190500" cy="190500"/>
          </a:xfrm>
          <a:prstGeom prst="rect">
            <a:avLst/>
          </a:prstGeom>
          <a:noFill/>
          <a:ln>
            <a:noFill/>
          </a:ln>
        </p:spPr>
      </p:pic>
      <p:pic>
        <p:nvPicPr>
          <p:cNvPr id="292" name="Google Shape;292;p24" descr="image.png"/>
          <p:cNvPicPr preferRelativeResize="0"/>
          <p:nvPr/>
        </p:nvPicPr>
        <p:blipFill rotWithShape="1">
          <a:blip r:embed="rId7">
            <a:alphaModFix/>
          </a:blip>
          <a:srcRect/>
          <a:stretch/>
        </p:blipFill>
        <p:spPr>
          <a:xfrm>
            <a:off x="6129337" y="2850545"/>
            <a:ext cx="190500" cy="1905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522</TotalTime>
  <Words>1393</Words>
  <Application>Microsoft Office PowerPoint</Application>
  <PresentationFormat>Widescreen</PresentationFormat>
  <Paragraphs>132</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Arial</vt:lpstr>
      <vt:lpstr>Inter</vt:lpstr>
      <vt:lpstr>Urbanist</vt:lpstr>
      <vt:lpstr>Inter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Nguyễn Văn Đỉnh</cp:lastModifiedBy>
  <cp:revision>32</cp:revision>
  <dcterms:modified xsi:type="dcterms:W3CDTF">2026-06-09T13:36:34Z</dcterms:modified>
</cp:coreProperties>
</file>