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SemiBold" panose="020B0604020202020204" charset="0"/>
      <p:regular r:id="rId24"/>
      <p:bold r:id="rId25"/>
      <p:italic r:id="rId26"/>
      <p:boldItalic r:id="rId27"/>
    </p:embeddedFont>
    <p:embeddedFont>
      <p:font typeface="Urbanist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27F0C40-E537-4A80-A629-6686285E020A}">
  <a:tblStyle styleId="{627F0C40-E537-4A80-A629-6686285E020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59911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047601"/>
            <a:ext cx="52863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571500" y="1343025"/>
            <a:ext cx="5550693" cy="25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AI-POWERED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CAREER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GUIDANCE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143375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9944"/>
              </a:lnSpc>
            </a:pPr>
            <a:r>
              <a:rPr lang="vi-VN" sz="1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AI tư vấn nghề nghiệp cho học sinh, sinh viên</a:t>
            </a:r>
            <a:endParaRPr/>
          </a:p>
        </p:txBody>
      </p:sp>
      <p:pic>
        <p:nvPicPr>
          <p:cNvPr id="89" name="Google Shape;89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057126"/>
            <a:ext cx="526732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781050" y="5271045"/>
            <a:ext cx="4886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Nguyễn Văn Đỉnh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781050" y="5575845"/>
            <a:ext cx="48863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MSSV: 26410020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614487"/>
            <a:ext cx="5286375" cy="45148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1614487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Thách thức trong Hướng nghiệp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2081212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Học sinh Việt Nam hiện nay đang đối mặt với sự thiếu hụt nghiêm trọng trong việc định hướng tương lai.</a:t>
            </a:r>
            <a:endParaRPr/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624012"/>
            <a:ext cx="5267325" cy="44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1000125" y="2928937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Thiếu thông tin: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Dữ liệu nghề nghiệp phân tán, không có chiều sâu.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000125" y="3729037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Kém cá nhân hóa: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Các giải pháp hiện tại mang tính đại trà, không xét đến sở thích cá nhân.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000125" y="4529137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Rào cản tiếp cận: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Khó tìm kiếm tư vấn viên chuyên nghiệp mọi lúc mọi nơi.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00125" y="5329237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Nhu cầu: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Một giải pháp AI tư vấn 24/7 dựa trên dữ liệu thực tế.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9670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7671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5672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367337"/>
            <a:ext cx="1714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Bối cảnh &amp; Bài toán Thực tế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33625"/>
            <a:ext cx="3492400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33625"/>
            <a:ext cx="3492549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333625"/>
            <a:ext cx="3492400" cy="3076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914400" y="3381375"/>
            <a:ext cx="294693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Thông minh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914400" y="3848100"/>
            <a:ext cx="2806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Xây dựng hệ thống tư vấn sử dụng mô hình ngôn ngữ lớn (LLM) để tương tác tự nhiên.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92550" y="3381375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Cá nhân hóa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4692550" y="38481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Dựa trên Holland Code, sở thích và điều kiện kinh tế của từng học sinh để đưa ra lời khuyên.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70850" y="3381375"/>
            <a:ext cx="294693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Tin cậy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470850" y="3848100"/>
            <a:ext cx="2806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Đảm bảo tính chính xác, minh bạch qua RAG và cơ chế Resilience với fallback.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9255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7085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Mục tiêu Chiến lược của Dự án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33625"/>
            <a:ext cx="3492400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33625"/>
            <a:ext cx="3492549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333625"/>
            <a:ext cx="3492400" cy="3076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914400" y="3381375"/>
            <a:ext cx="294693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Đăng ký/đăng nhập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914400" y="3848100"/>
            <a:ext cx="2806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Đăng ký/ đăng nhập hệ thống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92550" y="3381375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Chatbot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4692550" y="3848100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Dựa trên thông tin ng</a:t>
            </a:r>
            <a:r>
              <a:rPr lang="vi-VN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ư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ời dùng cung cấp để đ</a:t>
            </a:r>
            <a:r>
              <a:rPr lang="vi-VN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ư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  <a:sym typeface="Inter"/>
              </a:rPr>
              <a:t>a ra ngành nghề hợp lý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70850" y="3381375"/>
            <a:ext cx="294693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2100" b="1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Trắc nghiệm Holland</a:t>
            </a:r>
            <a:endParaRPr lang="en-US" sz="2400"/>
          </a:p>
        </p:txBody>
      </p:sp>
      <p:sp>
        <p:nvSpPr>
          <p:cNvPr id="124" name="Google Shape;124;p15"/>
          <p:cNvSpPr txBox="1"/>
          <p:nvPr/>
        </p:nvSpPr>
        <p:spPr>
          <a:xfrm>
            <a:off x="8470850" y="3848100"/>
            <a:ext cx="2806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Là công cụ khoa học giúp đáng giá tính cách và định h</a:t>
            </a:r>
            <a:r>
              <a:rPr lang="vi-VN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ư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ớng nghề nghiệp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9255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70850" y="271462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809625" y="571500"/>
            <a:ext cx="11351418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Chức năng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7003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/>
          <p:nvPr/>
        </p:nvSpPr>
        <p:spPr>
          <a:xfrm>
            <a:off x="5619750" y="857250"/>
            <a:ext cx="952500" cy="571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295275" y="1200150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Kiến trúc </a:t>
            </a:r>
            <a:r>
              <a:rPr lang="en-US" sz="60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Hệ thống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2286000" y="211455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Tổng quan về luồng dữ liệu và sự kết hợp giữa các tầng công nghệ hiện đại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47900"/>
            <a:ext cx="5286375" cy="324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47900"/>
            <a:ext cx="5286375" cy="32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914400" y="2590800"/>
            <a:ext cx="483060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Frontend - Angular 17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6677025" y="2590800"/>
            <a:ext cx="483060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Backend - FastAPI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1343025" y="3057525"/>
            <a:ext cx="4171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Assessment: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Trắc nghiệm Holland Code trực quan.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343025" y="3857625"/>
            <a:ext cx="4171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Chat UI: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Giao diện tương tác AI thời gian thực.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1343025" y="4352925"/>
            <a:ext cx="4171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Dashboard: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Phân tích kết quả qua biểu đồ XAI.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7105650" y="3057525"/>
            <a:ext cx="4171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API: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FastAPI hiệu năng cao cho Chat &amp; Auth.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7105650" y="3552825"/>
            <a:ext cx="4171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Database: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PostgreSQL kết hợp SQLAlchemy ORM.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7105650" y="4352925"/>
            <a:ext cx="4171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Security: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JWT tokens &amp; Prompt injection guardrails.</a:t>
            </a:r>
            <a:endParaRPr/>
          </a:p>
        </p:txBody>
      </p:sp>
      <p:pic>
        <p:nvPicPr>
          <p:cNvPr id="153" name="Google Shape;15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309562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389572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439102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77025" y="30956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77025" y="359092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77025" y="4391025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Core Infrastructure: Front &amp; Back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1562" y="1728787"/>
            <a:ext cx="42862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81087" y="1738312"/>
            <a:ext cx="426720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8"/>
          <p:cNvSpPr txBox="1"/>
          <p:nvPr/>
        </p:nvSpPr>
        <p:spPr>
          <a:xfrm>
            <a:off x="6334125" y="2343150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Phân loại Ngành nghề Thông minh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6334125" y="2809875"/>
            <a:ext cx="5286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Xử lý câu trả lời từ câu hỏi trắc nghiệm để xác định nhóm tính cách nổi trội.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6762750" y="3609975"/>
            <a:ext cx="4857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Model: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Scikit-learn (SVM).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6762750" y="4105275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Output: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Holland Code (R, I, A, S, E, C).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6762750" y="4600575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Mục tiêu: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Khớp nối sở thích với các khối ngành đào tạo chính xác.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Holland Code Classifier (ML)</a:t>
            </a: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/>
          <p:nvPr/>
        </p:nvSpPr>
        <p:spPr>
          <a:xfrm>
            <a:off x="571500" y="4133850"/>
            <a:ext cx="11049000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510733" y="3657600"/>
            <a:ext cx="25521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1. Retrieval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4124325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Tìm kiếm tài liệu liên quan từ ChromaDB Knowledge Base.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3383413" y="3657600"/>
            <a:ext cx="25521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2. Augmentation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3444180" y="4124325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Kết hợp ngữ cảnh thực tế vào câu truy vấn của người dùng.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6256094" y="3657600"/>
            <a:ext cx="25521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3. Generation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6316860" y="4124325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Gemini LLM sinh lời tư vấn dựa trên dữ liệu đã chuẩn hóa.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9128774" y="3657600"/>
            <a:ext cx="25521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4. Delivery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9189541" y="4124325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Trả về kết quả ở chế độ 'rag' với độ tin cậy tối đa.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RAG Pipeline: Quy trình Xử lý AI</a:t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1691580" y="425291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564260" y="425291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7436941" y="425291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0309621" y="410051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571500" y="923925"/>
            <a:ext cx="5200650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Knowledge Base &amp; Security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2314575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Nguồn Dữ liệu Chính thống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571500" y="2781300"/>
            <a:ext cx="55245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Sử dụng các thông tư nhà nước (26/2020/TT-BLĐTBXH, 09/2022/TT-BGDĐT) và dữ liệu thị trường từ VietnamWorks, d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ữ liệu từ các tr</a:t>
            </a:r>
            <a:r>
              <a:rPr lang="vi-VN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ư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ờng đại học/cao đẳng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571500" y="3981450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Cơ chế Bảo mật AI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1000125" y="4448175"/>
            <a:ext cx="4524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Anti-Bias: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Loại bỏ định kiến giới tính, vùng miền.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1000125" y="4943475"/>
            <a:ext cx="4524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Anti-Hallucination: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Chỉ dùng dữ liệu gốc.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1000125" y="5438775"/>
            <a:ext cx="4524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Prompt Guard: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Chống tấn công injection.</a:t>
            </a:r>
            <a:endParaRPr/>
          </a:p>
        </p:txBody>
      </p:sp>
      <p:pic>
        <p:nvPicPr>
          <p:cNvPr id="207" name="Google Shape;20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862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9815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476875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1"/>
          <p:cNvSpPr txBox="1"/>
          <p:nvPr/>
        </p:nvSpPr>
        <p:spPr>
          <a:xfrm>
            <a:off x="571500" y="2924175"/>
            <a:ext cx="33337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571500" y="4543425"/>
            <a:ext cx="33337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Tầng Dự phòng (Levels)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4476750" y="2671762"/>
            <a:ext cx="698087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Hệ thống Không Bao giờ Thất bại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4476750" y="3138487"/>
            <a:ext cx="6648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Chúng tôi xây dựng cơ chế tự phục hồi (Self-healing) thông minh: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4905375" y="3586162"/>
            <a:ext cx="6219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rPr>
              <a:t>L1 - RAG: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Sử dụng dữ liệu gốc + Gemini (Ưu tiên).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4905375" y="4081462"/>
            <a:ext cx="6219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rPr>
              <a:t>L2 - LLM-Only: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Khi RAG bị giới hạn, LLM sẽ tư vấn theo kinh nghiệm.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4905375" y="4576762"/>
            <a:ext cx="6219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rPr>
              <a:t>L3 - Rule-Based: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Dùng quy tắc Holland cơ bản nếu AI gặp sự cố.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Resilience &amp; Fallback Strategy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0" name="Google Shape;230;p22"/>
          <p:cNvGraphicFramePr/>
          <p:nvPr>
            <p:extLst>
              <p:ext uri="{D42A27DB-BD31-4B8C-83A1-F6EECF244321}">
                <p14:modId xmlns:p14="http://schemas.microsoft.com/office/powerpoint/2010/main" val="2913396975"/>
              </p:ext>
            </p:extLst>
          </p:nvPr>
        </p:nvGraphicFramePr>
        <p:xfrm>
          <a:off x="571500" y="2100262"/>
          <a:ext cx="11048975" cy="3543250"/>
        </p:xfrm>
        <a:graphic>
          <a:graphicData uri="http://schemas.openxmlformats.org/drawingml/2006/table">
            <a:tbl>
              <a:tblPr firstRow="1" bandRow="1">
                <a:noFill/>
                <a:tableStyleId>{627F0C40-E537-4A80-A629-6686285E020A}</a:tableStyleId>
              </a:tblPr>
              <a:tblGrid>
                <a:gridCol w="401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6B6D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Endpoint / Công nghệ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6B6D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Mô tả / Vai trò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6B6D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Trạng thái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POST /v1/chat/message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Tương tác AI thời gian thực với RAG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POST /v1/assessment/submit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Xử lý trắc nghiệm Holland Code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Gemini, Chroma DB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Hệ thống điều phối LLM &amp; Vector DB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Stable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PostgreSQL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Lưu trữ dữ liệu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1F5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Ready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1" name="Google Shape;231;p22"/>
          <p:cNvSpPr/>
          <p:nvPr/>
        </p:nvSpPr>
        <p:spPr>
          <a:xfrm>
            <a:off x="571500" y="3481387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2900362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4586436" y="3481387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4586436" y="2900362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9519493" y="3481387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9519493" y="2900362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571500" y="4167187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2"/>
          <p:cNvSpPr/>
          <p:nvPr/>
        </p:nvSpPr>
        <p:spPr>
          <a:xfrm>
            <a:off x="571500" y="3586162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/>
          <p:nvPr/>
        </p:nvSpPr>
        <p:spPr>
          <a:xfrm>
            <a:off x="4586436" y="4167187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/>
          <p:nvPr/>
        </p:nvSpPr>
        <p:spPr>
          <a:xfrm>
            <a:off x="4586436" y="3586162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/>
          <p:nvPr/>
        </p:nvSpPr>
        <p:spPr>
          <a:xfrm>
            <a:off x="9519493" y="4167187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9519493" y="3586162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2"/>
          <p:cNvSpPr/>
          <p:nvPr/>
        </p:nvSpPr>
        <p:spPr>
          <a:xfrm>
            <a:off x="571500" y="4852987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/>
          <p:nvPr/>
        </p:nvSpPr>
        <p:spPr>
          <a:xfrm>
            <a:off x="571500" y="4271962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4586436" y="4852987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4586436" y="4271962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9519493" y="4852987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9519493" y="4271962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2"/>
          <p:cNvSpPr/>
          <p:nvPr/>
        </p:nvSpPr>
        <p:spPr>
          <a:xfrm>
            <a:off x="571500" y="5538787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2"/>
          <p:cNvSpPr/>
          <p:nvPr/>
        </p:nvSpPr>
        <p:spPr>
          <a:xfrm>
            <a:off x="571500" y="4957762"/>
            <a:ext cx="401493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2"/>
          <p:cNvSpPr/>
          <p:nvPr/>
        </p:nvSpPr>
        <p:spPr>
          <a:xfrm>
            <a:off x="4586436" y="5538787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4586436" y="4957762"/>
            <a:ext cx="493305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9519493" y="5538787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2"/>
          <p:cNvSpPr/>
          <p:nvPr/>
        </p:nvSpPr>
        <p:spPr>
          <a:xfrm>
            <a:off x="9519493" y="4957762"/>
            <a:ext cx="210100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2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Backend API &amp; Tech Stack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3"/>
          <p:cNvSpPr txBox="1"/>
          <p:nvPr/>
        </p:nvSpPr>
        <p:spPr>
          <a:xfrm>
            <a:off x="1000125" y="267176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Xây dựng thành công hệ thống RAG + LLM hoàn chỉnh.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1000125" y="347186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Chiến lược Fallback 3 cấp độ đảm bảo độ sẵn sàng 99.9%.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1000125" y="4271962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Cá nhân hóa tư vấn dựa trên Holland Code thực tế.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6762750" y="267176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Thiết lập hàng rào bảo mật Anti-bias &amp; Anti-hallucination.</a:t>
            </a:r>
            <a:endParaRPr/>
          </a:p>
        </p:txBody>
      </p:sp>
      <p:sp>
        <p:nvSpPr>
          <p:cNvPr id="266" name="Google Shape;266;p23"/>
          <p:cNvSpPr txBox="1"/>
          <p:nvPr/>
        </p:nvSpPr>
        <p:spPr>
          <a:xfrm>
            <a:off x="6762750" y="347186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Giao diện Responsive hiện đại trên nền tảng Angular 17.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6762750" y="427196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Hệ thống sẵn sàng cho việc mở rộng (Scalable architecture).</a:t>
            </a:r>
            <a:endParaRPr/>
          </a:p>
        </p:txBody>
      </p:sp>
      <p:pic>
        <p:nvPicPr>
          <p:cNvPr id="268" name="Google Shape;26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098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099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100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7098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5099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310062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3"/>
          <p:cNvSpPr txBox="1"/>
          <p:nvPr/>
        </p:nvSpPr>
        <p:spPr>
          <a:xfrm>
            <a:off x="809625" y="571500"/>
            <a:ext cx="1135141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Thành tựu &amp; Kết quả Đạt được</a:t>
            </a:r>
            <a:endParaRPr/>
          </a:p>
        </p:txBody>
      </p:sp>
      <p:sp>
        <p:nvSpPr>
          <p:cNvPr id="275" name="Google Shape;275;p23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9387" y="2552700"/>
            <a:ext cx="2838450" cy="12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38837" y="2552700"/>
            <a:ext cx="3533775" cy="129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4"/>
          <p:cNvSpPr txBox="1"/>
          <p:nvPr/>
        </p:nvSpPr>
        <p:spPr>
          <a:xfrm>
            <a:off x="295275" y="571500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Questions &amp; Answers</a:t>
            </a:r>
            <a:endParaRPr/>
          </a:p>
        </p:txBody>
      </p:sp>
      <p:sp>
        <p:nvSpPr>
          <p:cNvPr id="284" name="Google Shape;284;p24"/>
          <p:cNvSpPr txBox="1"/>
          <p:nvPr/>
        </p:nvSpPr>
        <p:spPr>
          <a:xfrm>
            <a:off x="571500" y="16764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Cảm ơn bạn đã theo dõi bài thuyết trình!</a:t>
            </a:r>
            <a:endParaRPr/>
          </a:p>
        </p:txBody>
      </p:sp>
      <p:sp>
        <p:nvSpPr>
          <p:cNvPr id="285" name="Google Shape;285;p24"/>
          <p:cNvSpPr txBox="1"/>
          <p:nvPr/>
        </p:nvSpPr>
        <p:spPr>
          <a:xfrm>
            <a:off x="2909887" y="2743200"/>
            <a:ext cx="2457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Liên hệ: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2909887" y="3048000"/>
            <a:ext cx="2457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Nguyễn Văn Đỉnh</a:t>
            </a:r>
            <a:endParaRPr/>
          </a:p>
        </p:txBody>
      </p:sp>
      <p:sp>
        <p:nvSpPr>
          <p:cNvPr id="287" name="Google Shape;287;p24"/>
          <p:cNvSpPr txBox="1"/>
          <p:nvPr/>
        </p:nvSpPr>
        <p:spPr>
          <a:xfrm>
            <a:off x="2909887" y="3352800"/>
            <a:ext cx="2457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26410020</a:t>
            </a:r>
            <a:endParaRPr lang="en-US"/>
          </a:p>
        </p:txBody>
      </p:sp>
      <p:sp>
        <p:nvSpPr>
          <p:cNvPr id="288" name="Google Shape;288;p24"/>
          <p:cNvSpPr txBox="1"/>
          <p:nvPr/>
        </p:nvSpPr>
        <p:spPr>
          <a:xfrm>
            <a:off x="6129337" y="2743200"/>
            <a:ext cx="3152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Hướng phát triển:</a:t>
            </a:r>
            <a:endParaRPr/>
          </a:p>
        </p:txBody>
      </p:sp>
      <p:sp>
        <p:nvSpPr>
          <p:cNvPr id="289" name="Google Shape;289;p24"/>
          <p:cNvSpPr txBox="1"/>
          <p:nvPr/>
        </p:nvSpPr>
        <p:spPr>
          <a:xfrm>
            <a:off x="6129337" y="3048000"/>
            <a:ext cx="3152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Fine-tuning local LLM (Llama 3)</a:t>
            </a:r>
            <a:endParaRPr/>
          </a:p>
        </p:txBody>
      </p:sp>
      <p:sp>
        <p:nvSpPr>
          <p:cNvPr id="290" name="Google Shape;290;p24"/>
          <p:cNvSpPr txBox="1"/>
          <p:nvPr/>
        </p:nvSpPr>
        <p:spPr>
          <a:xfrm>
            <a:off x="6129337" y="3352800"/>
            <a:ext cx="3152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Integration với Career Data thực tế</a:t>
            </a:r>
            <a:endParaRPr/>
          </a:p>
        </p:txBody>
      </p:sp>
      <p:pic>
        <p:nvPicPr>
          <p:cNvPr id="291" name="Google Shape;291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909887" y="280035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129337" y="2800350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839</Words>
  <Application>Microsoft Office PowerPoint</Application>
  <PresentationFormat>Widescreen</PresentationFormat>
  <Paragraphs>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Calibri</vt:lpstr>
      <vt:lpstr>Arial</vt:lpstr>
      <vt:lpstr>Inter</vt:lpstr>
      <vt:lpstr>Urbanist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Nguyễn Văn Đỉnh</cp:lastModifiedBy>
  <cp:revision>14</cp:revision>
  <dcterms:modified xsi:type="dcterms:W3CDTF">2026-06-09T06:16:34Z</dcterms:modified>
</cp:coreProperties>
</file>